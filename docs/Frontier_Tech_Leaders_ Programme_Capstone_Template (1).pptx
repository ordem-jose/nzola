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8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9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10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11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notesSlides/notesSlide12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notesSlides/notesSlide13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14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notesSlides/notesSlide15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notesSlides/notesSlide16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notesSlides/notesSlide17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notesSlides/notesSlide18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0"/>
  </p:notesMasterIdLst>
  <p:sldIdLst>
    <p:sldId id="256" r:id="rId5"/>
    <p:sldId id="278" r:id="rId6"/>
    <p:sldId id="258" r:id="rId7"/>
    <p:sldId id="288" r:id="rId8"/>
    <p:sldId id="269" r:id="rId9"/>
    <p:sldId id="270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71" r:id="rId18"/>
    <p:sldId id="281" r:id="rId19"/>
    <p:sldId id="272" r:id="rId20"/>
    <p:sldId id="282" r:id="rId21"/>
    <p:sldId id="274" r:id="rId22"/>
    <p:sldId id="286" r:id="rId23"/>
    <p:sldId id="283" r:id="rId24"/>
    <p:sldId id="287" r:id="rId25"/>
    <p:sldId id="284" r:id="rId26"/>
    <p:sldId id="277" r:id="rId27"/>
    <p:sldId id="296" r:id="rId28"/>
    <p:sldId id="268" r:id="rId2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Cacombe" userId="461dc0e7-15b8-4d12-8c65-6706fd669b56" providerId="ADAL" clId="{AAF0F511-5D6C-CC4E-AC45-B01B16C18ED7}"/>
    <pc:docChg chg="undo custSel modSld">
      <pc:chgData name="Cristovao Cacombe" userId="461dc0e7-15b8-4d12-8c65-6706fd669b56" providerId="ADAL" clId="{AAF0F511-5D6C-CC4E-AC45-B01B16C18ED7}" dt="2025-06-20T06:57:38.407" v="53" actId="22"/>
      <pc:docMkLst>
        <pc:docMk/>
      </pc:docMkLst>
      <pc:sldChg chg="modSp">
        <pc:chgData name="Cristovao Cacombe" userId="461dc0e7-15b8-4d12-8c65-6706fd669b56" providerId="ADAL" clId="{AAF0F511-5D6C-CC4E-AC45-B01B16C18ED7}" dt="2025-06-20T06:55:59.127" v="18" actId="1076"/>
        <pc:sldMkLst>
          <pc:docMk/>
          <pc:sldMk cId="0" sldId="256"/>
        </pc:sldMkLst>
        <pc:spChg chg="mod">
          <ac:chgData name="Cristovao Cacombe" userId="461dc0e7-15b8-4d12-8c65-6706fd669b56" providerId="ADAL" clId="{AAF0F511-5D6C-CC4E-AC45-B01B16C18ED7}" dt="2025-06-20T06:55:53.092" v="17" actId="1076"/>
          <ac:spMkLst>
            <pc:docMk/>
            <pc:sldMk cId="0" sldId="256"/>
            <ac:spMk id="4" creationId="{119D6634-8C52-56C8-C196-BBFF1A999BF3}"/>
          </ac:spMkLst>
        </pc:spChg>
        <pc:spChg chg="mod">
          <ac:chgData name="Cristovao Cacombe" userId="461dc0e7-15b8-4d12-8c65-6706fd669b56" providerId="ADAL" clId="{AAF0F511-5D6C-CC4E-AC45-B01B16C18ED7}" dt="2025-06-20T06:55:59.127" v="18" actId="1076"/>
          <ac:spMkLst>
            <pc:docMk/>
            <pc:sldMk cId="0" sldId="256"/>
            <ac:spMk id="476" creationId="{00000000-0000-0000-0000-000000000000}"/>
          </ac:spMkLst>
        </pc:spChg>
      </pc:sldChg>
      <pc:sldChg chg="addSp delSp modSp">
        <pc:chgData name="Cristovao Cacombe" userId="461dc0e7-15b8-4d12-8c65-6706fd669b56" providerId="ADAL" clId="{AAF0F511-5D6C-CC4E-AC45-B01B16C18ED7}" dt="2025-06-20T06:57:38.407" v="53" actId="22"/>
        <pc:sldMkLst>
          <pc:docMk/>
          <pc:sldMk cId="0" sldId="258"/>
        </pc:sldMkLst>
        <pc:spChg chg="add del">
          <ac:chgData name="Cristovao Cacombe" userId="461dc0e7-15b8-4d12-8c65-6706fd669b56" providerId="ADAL" clId="{AAF0F511-5D6C-CC4E-AC45-B01B16C18ED7}" dt="2025-06-20T06:57:38.407" v="53" actId="22"/>
          <ac:spMkLst>
            <pc:docMk/>
            <pc:sldMk cId="0" sldId="258"/>
            <ac:spMk id="4" creationId="{1179131E-F870-459B-822B-3BDC169F86B8}"/>
          </ac:spMkLst>
        </pc:spChg>
        <pc:spChg chg="mod">
          <ac:chgData name="Cristovao Cacombe" userId="461dc0e7-15b8-4d12-8c65-6706fd669b56" providerId="ADAL" clId="{AAF0F511-5D6C-CC4E-AC45-B01B16C18ED7}" dt="2025-06-20T06:57:20.210" v="51" actId="22"/>
          <ac:spMkLst>
            <pc:docMk/>
            <pc:sldMk cId="0" sldId="258"/>
            <ac:spMk id="490" creationId="{00000000-0000-0000-0000-000000000000}"/>
          </ac:spMkLst>
        </pc:spChg>
      </pc:sldChg>
      <pc:sldChg chg="modSp">
        <pc:chgData name="Cristovao Cacombe" userId="461dc0e7-15b8-4d12-8c65-6706fd669b56" providerId="ADAL" clId="{AAF0F511-5D6C-CC4E-AC45-B01B16C18ED7}" dt="2025-06-20T06:56:10.609" v="48" actId="20577"/>
        <pc:sldMkLst>
          <pc:docMk/>
          <pc:sldMk cId="1968293515" sldId="278"/>
        </pc:sldMkLst>
        <pc:spChg chg="mod">
          <ac:chgData name="Cristovao Cacombe" userId="461dc0e7-15b8-4d12-8c65-6706fd669b56" providerId="ADAL" clId="{AAF0F511-5D6C-CC4E-AC45-B01B16C18ED7}" dt="2025-06-20T06:56:10.609" v="48" actId="20577"/>
          <ac:spMkLst>
            <pc:docMk/>
            <pc:sldMk cId="1968293515" sldId="278"/>
            <ac:spMk id="476" creationId="{00000000-0000-0000-0000-000000000000}"/>
          </ac:spMkLst>
        </pc:spChg>
      </pc:sldChg>
    </pc:docChg>
  </pc:docChgLst>
  <pc:docChgLst>
    <pc:chgData name="carlosnieto_r@hotmail.com" userId="S::urn:spo:guest#carlosnieto_r@hotmail.com::" providerId="AD" clId="Web-{F53A8B4D-EAD8-2A0D-F33B-B7B36ABB47B1}"/>
    <pc:docChg chg="addSld modSld">
      <pc:chgData name="carlosnieto_r@hotmail.com" userId="S::urn:spo:guest#carlosnieto_r@hotmail.com::" providerId="AD" clId="Web-{F53A8B4D-EAD8-2A0D-F33B-B7B36ABB47B1}" dt="2024-03-18T22:39:05.388" v="289" actId="1076"/>
      <pc:docMkLst>
        <pc:docMk/>
      </pc:docMkLst>
      <pc:sldChg chg="modSp">
        <pc:chgData name="carlosnieto_r@hotmail.com" userId="S::urn:spo:guest#carlosnieto_r@hotmail.com::" providerId="AD" clId="Web-{F53A8B4D-EAD8-2A0D-F33B-B7B36ABB47B1}" dt="2024-03-18T22:39:05.388" v="289" actId="1076"/>
        <pc:sldMkLst>
          <pc:docMk/>
          <pc:sldMk cId="0" sldId="259"/>
        </pc:sldMkLst>
      </pc:sldChg>
      <pc:sldChg chg="modSp">
        <pc:chgData name="carlosnieto_r@hotmail.com" userId="S::urn:spo:guest#carlosnieto_r@hotmail.com::" providerId="AD" clId="Web-{F53A8B4D-EAD8-2A0D-F33B-B7B36ABB47B1}" dt="2024-03-18T19:35:34.110" v="0" actId="14100"/>
        <pc:sldMkLst>
          <pc:docMk/>
          <pc:sldMk cId="2496000186" sldId="278"/>
        </pc:sldMkLst>
      </pc:sldChg>
      <pc:sldChg chg="modSp">
        <pc:chgData name="carlosnieto_r@hotmail.com" userId="S::urn:spo:guest#carlosnieto_r@hotmail.com::" providerId="AD" clId="Web-{F53A8B4D-EAD8-2A0D-F33B-B7B36ABB47B1}" dt="2024-03-18T22:27:42.032" v="279" actId="20577"/>
        <pc:sldMkLst>
          <pc:docMk/>
          <pc:sldMk cId="950368928" sldId="279"/>
        </pc:sldMkLst>
      </pc:sldChg>
      <pc:sldChg chg="addSp delSp modSp add replId">
        <pc:chgData name="carlosnieto_r@hotmail.com" userId="S::urn:spo:guest#carlosnieto_r@hotmail.com::" providerId="AD" clId="Web-{F53A8B4D-EAD8-2A0D-F33B-B7B36ABB47B1}" dt="2024-03-18T19:57:00.631" v="275" actId="1076"/>
        <pc:sldMkLst>
          <pc:docMk/>
          <pc:sldMk cId="120320344" sldId="280"/>
        </pc:sldMkLst>
      </pc:sldChg>
    </pc:docChg>
  </pc:docChgLst>
  <pc:docChgLst>
    <pc:chgData name="carlosnieto_r@hotmail.com" userId="S::urn:spo:guest#carlosnieto_r@hotmail.com::" providerId="AD" clId="Web-{D030A783-4C26-A712-4551-726DE7270034}"/>
    <pc:docChg chg="modSld">
      <pc:chgData name="carlosnieto_r@hotmail.com" userId="S::urn:spo:guest#carlosnieto_r@hotmail.com::" providerId="AD" clId="Web-{D030A783-4C26-A712-4551-726DE7270034}" dt="2024-03-13T01:06:02.255" v="76"/>
      <pc:docMkLst>
        <pc:docMk/>
      </pc:docMkLst>
      <pc:sldChg chg="addSp delSp modSp">
        <pc:chgData name="carlosnieto_r@hotmail.com" userId="S::urn:spo:guest#carlosnieto_r@hotmail.com::" providerId="AD" clId="Web-{D030A783-4C26-A712-4551-726DE7270034}" dt="2024-03-13T01:05:24.941" v="74" actId="1076"/>
        <pc:sldMkLst>
          <pc:docMk/>
          <pc:sldMk cId="3100614976" sldId="273"/>
        </pc:sldMkLst>
      </pc:sldChg>
      <pc:sldChg chg="addSp delSp modSp">
        <pc:chgData name="carlosnieto_r@hotmail.com" userId="S::urn:spo:guest#carlosnieto_r@hotmail.com::" providerId="AD" clId="Web-{D030A783-4C26-A712-4551-726DE7270034}" dt="2024-03-13T01:06:02.255" v="76"/>
        <pc:sldMkLst>
          <pc:docMk/>
          <pc:sldMk cId="2496000186" sldId="278"/>
        </pc:sldMkLst>
      </pc:sldChg>
    </pc:docChg>
  </pc:docChgLst>
  <pc:docChgLst>
    <pc:chgData name="EDA NUR SARUHAN" userId="796a441a-389d-493a-b849-403485121362" providerId="ADAL" clId="{F50D9A46-20DF-48B3-A542-164CA64A4D0A}"/>
    <pc:docChg chg="undo redo custSel addSld delSld modSld sldOrd">
      <pc:chgData name="EDA NUR SARUHAN" userId="796a441a-389d-493a-b849-403485121362" providerId="ADAL" clId="{F50D9A46-20DF-48B3-A542-164CA64A4D0A}" dt="2024-06-24T07:16:17.609" v="221"/>
      <pc:docMkLst>
        <pc:docMk/>
      </pc:docMkLst>
      <pc:sldChg chg="modSp mod">
        <pc:chgData name="EDA NUR SARUHAN" userId="796a441a-389d-493a-b849-403485121362" providerId="ADAL" clId="{F50D9A46-20DF-48B3-A542-164CA64A4D0A}" dt="2024-06-24T07:10:59.195" v="19" actId="27636"/>
        <pc:sldMkLst>
          <pc:docMk/>
          <pc:sldMk cId="0" sldId="258"/>
        </pc:sldMkLst>
      </pc:sldChg>
      <pc:sldChg chg="modSp mod">
        <pc:chgData name="EDA NUR SARUHAN" userId="796a441a-389d-493a-b849-403485121362" providerId="ADAL" clId="{F50D9A46-20DF-48B3-A542-164CA64A4D0A}" dt="2024-06-24T07:11:57.316" v="63"/>
        <pc:sldMkLst>
          <pc:docMk/>
          <pc:sldMk cId="2903211234" sldId="269"/>
        </pc:sldMkLst>
      </pc:sldChg>
      <pc:sldChg chg="modSp mod">
        <pc:chgData name="EDA NUR SARUHAN" userId="796a441a-389d-493a-b849-403485121362" providerId="ADAL" clId="{F50D9A46-20DF-48B3-A542-164CA64A4D0A}" dt="2024-06-24T07:12:19.676" v="69"/>
        <pc:sldMkLst>
          <pc:docMk/>
          <pc:sldMk cId="434732476" sldId="270"/>
        </pc:sldMkLst>
      </pc:sldChg>
      <pc:sldChg chg="modSp mod">
        <pc:chgData name="EDA NUR SARUHAN" userId="796a441a-389d-493a-b849-403485121362" providerId="ADAL" clId="{F50D9A46-20DF-48B3-A542-164CA64A4D0A}" dt="2024-06-24T07:12:37.122" v="77"/>
        <pc:sldMkLst>
          <pc:docMk/>
          <pc:sldMk cId="1729379315" sldId="271"/>
        </pc:sldMkLst>
      </pc:sldChg>
      <pc:sldChg chg="modSp mod">
        <pc:chgData name="EDA NUR SARUHAN" userId="796a441a-389d-493a-b849-403485121362" providerId="ADAL" clId="{F50D9A46-20DF-48B3-A542-164CA64A4D0A}" dt="2024-06-24T07:13:12.036" v="97"/>
        <pc:sldMkLst>
          <pc:docMk/>
          <pc:sldMk cId="664534578" sldId="272"/>
        </pc:sldMkLst>
      </pc:sldChg>
      <pc:sldChg chg="modSp mod">
        <pc:chgData name="EDA NUR SARUHAN" userId="796a441a-389d-493a-b849-403485121362" providerId="ADAL" clId="{F50D9A46-20DF-48B3-A542-164CA64A4D0A}" dt="2024-06-24T07:13:38.002" v="120" actId="5793"/>
        <pc:sldMkLst>
          <pc:docMk/>
          <pc:sldMk cId="3284491021" sldId="273"/>
        </pc:sldMkLst>
      </pc:sldChg>
      <pc:sldChg chg="modSp mod">
        <pc:chgData name="EDA NUR SARUHAN" userId="796a441a-389d-493a-b849-403485121362" providerId="ADAL" clId="{F50D9A46-20DF-48B3-A542-164CA64A4D0A}" dt="2024-06-24T07:14:14.540" v="146" actId="27636"/>
        <pc:sldMkLst>
          <pc:docMk/>
          <pc:sldMk cId="3671019558" sldId="274"/>
        </pc:sldMkLst>
      </pc:sldChg>
      <pc:sldChg chg="modSp mod">
        <pc:chgData name="EDA NUR SARUHAN" userId="796a441a-389d-493a-b849-403485121362" providerId="ADAL" clId="{F50D9A46-20DF-48B3-A542-164CA64A4D0A}" dt="2024-06-24T07:14:37.088" v="154"/>
        <pc:sldMkLst>
          <pc:docMk/>
          <pc:sldMk cId="3774262820" sldId="275"/>
        </pc:sldMkLst>
      </pc:sldChg>
      <pc:sldChg chg="modSp mod">
        <pc:chgData name="EDA NUR SARUHAN" userId="796a441a-389d-493a-b849-403485121362" providerId="ADAL" clId="{F50D9A46-20DF-48B3-A542-164CA64A4D0A}" dt="2024-06-24T07:14:55.259" v="162"/>
        <pc:sldMkLst>
          <pc:docMk/>
          <pc:sldMk cId="1090383087" sldId="276"/>
        </pc:sldMkLst>
      </pc:sldChg>
      <pc:sldChg chg="new del">
        <pc:chgData name="EDA NUR SARUHAN" userId="796a441a-389d-493a-b849-403485121362" providerId="ADAL" clId="{F50D9A46-20DF-48B3-A542-164CA64A4D0A}" dt="2024-06-24T07:11:21.943" v="22" actId="47"/>
        <pc:sldMkLst>
          <pc:docMk/>
          <pc:sldMk cId="347083183" sldId="279"/>
        </pc:sldMkLst>
      </pc:sldChg>
      <pc:sldChg chg="modSp add mod">
        <pc:chgData name="EDA NUR SARUHAN" userId="796a441a-389d-493a-b849-403485121362" providerId="ADAL" clId="{F50D9A46-20DF-48B3-A542-164CA64A4D0A}" dt="2024-06-24T07:11:37.690" v="57" actId="1076"/>
        <pc:sldMkLst>
          <pc:docMk/>
          <pc:sldMk cId="2319431748" sldId="280"/>
        </pc:sldMkLst>
      </pc:sldChg>
      <pc:sldChg chg="modSp add mod ord">
        <pc:chgData name="EDA NUR SARUHAN" userId="796a441a-389d-493a-b849-403485121362" providerId="ADAL" clId="{F50D9A46-20DF-48B3-A542-164CA64A4D0A}" dt="2024-06-24T07:12:54.518" v="91" actId="20577"/>
        <pc:sldMkLst>
          <pc:docMk/>
          <pc:sldMk cId="3209889353" sldId="281"/>
        </pc:sldMkLst>
      </pc:sldChg>
      <pc:sldChg chg="modSp add mod ord">
        <pc:chgData name="EDA NUR SARUHAN" userId="796a441a-389d-493a-b849-403485121362" providerId="ADAL" clId="{F50D9A46-20DF-48B3-A542-164CA64A4D0A}" dt="2024-06-24T07:13:51.976" v="132" actId="20577"/>
        <pc:sldMkLst>
          <pc:docMk/>
          <pc:sldMk cId="4161134741" sldId="282"/>
        </pc:sldMkLst>
      </pc:sldChg>
      <pc:sldChg chg="modSp add mod">
        <pc:chgData name="EDA NUR SARUHAN" userId="796a441a-389d-493a-b849-403485121362" providerId="ADAL" clId="{F50D9A46-20DF-48B3-A542-164CA64A4D0A}" dt="2024-06-24T07:15:43.569" v="199"/>
        <pc:sldMkLst>
          <pc:docMk/>
          <pc:sldMk cId="3824939920" sldId="283"/>
        </pc:sldMkLst>
      </pc:sldChg>
      <pc:sldChg chg="new del ord">
        <pc:chgData name="EDA NUR SARUHAN" userId="796a441a-389d-493a-b849-403485121362" providerId="ADAL" clId="{F50D9A46-20DF-48B3-A542-164CA64A4D0A}" dt="2024-06-24T07:15:05.569" v="166" actId="47"/>
        <pc:sldMkLst>
          <pc:docMk/>
          <pc:sldMk cId="4249559437" sldId="283"/>
        </pc:sldMkLst>
      </pc:sldChg>
      <pc:sldChg chg="modSp add mod">
        <pc:chgData name="EDA NUR SARUHAN" userId="796a441a-389d-493a-b849-403485121362" providerId="ADAL" clId="{F50D9A46-20DF-48B3-A542-164CA64A4D0A}" dt="2024-06-24T07:16:17.609" v="221"/>
        <pc:sldMkLst>
          <pc:docMk/>
          <pc:sldMk cId="2350826882" sldId="284"/>
        </pc:sldMkLst>
      </pc:sldChg>
      <pc:sldChg chg="add del">
        <pc:chgData name="EDA NUR SARUHAN" userId="796a441a-389d-493a-b849-403485121362" providerId="ADAL" clId="{F50D9A46-20DF-48B3-A542-164CA64A4D0A}" dt="2024-06-24T07:16:08.734" v="218" actId="47"/>
        <pc:sldMkLst>
          <pc:docMk/>
          <pc:sldMk cId="211967843" sldId="285"/>
        </pc:sldMkLst>
      </pc:sldChg>
      <pc:sldChg chg="modSp add mod ord">
        <pc:chgData name="EDA NUR SARUHAN" userId="796a441a-389d-493a-b849-403485121362" providerId="ADAL" clId="{F50D9A46-20DF-48B3-A542-164CA64A4D0A}" dt="2024-06-24T07:15:23.796" v="191" actId="20577"/>
        <pc:sldMkLst>
          <pc:docMk/>
          <pc:sldMk cId="1779530041" sldId="286"/>
        </pc:sldMkLst>
      </pc:sldChg>
      <pc:sldChg chg="modSp add mod ord">
        <pc:chgData name="EDA NUR SARUHAN" userId="796a441a-389d-493a-b849-403485121362" providerId="ADAL" clId="{F50D9A46-20DF-48B3-A542-164CA64A4D0A}" dt="2024-06-24T07:15:51.814" v="213" actId="20577"/>
        <pc:sldMkLst>
          <pc:docMk/>
          <pc:sldMk cId="3899215332" sldId="287"/>
        </pc:sldMkLst>
      </pc:sldChg>
    </pc:docChg>
  </pc:docChgLst>
  <pc:docChgLst>
    <pc:chgData name="Ipek Beril Benli" userId="S::ipek.beril.benli@undp.org::8f9c5f4b-b22c-49ff-bdd5-d07e27607437" providerId="AD" clId="Web-{BA4A98C9-4BA9-35B6-87C1-650CB67E20CB}"/>
    <pc:docChg chg="modSld">
      <pc:chgData name="Ipek Beril Benli" userId="S::ipek.beril.benli@undp.org::8f9c5f4b-b22c-49ff-bdd5-d07e27607437" providerId="AD" clId="Web-{BA4A98C9-4BA9-35B6-87C1-650CB67E20CB}" dt="2024-03-12T18:05:21.721" v="18" actId="20577"/>
      <pc:docMkLst>
        <pc:docMk/>
      </pc:docMkLst>
      <pc:sldChg chg="modSp mod modShow">
        <pc:chgData name="Ipek Beril Benli" userId="S::ipek.beril.benli@undp.org::8f9c5f4b-b22c-49ff-bdd5-d07e27607437" providerId="AD" clId="Web-{BA4A98C9-4BA9-35B6-87C1-650CB67E20CB}" dt="2024-03-12T18:04:49.986" v="12" actId="20577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BA4A98C9-4BA9-35B6-87C1-650CB67E20CB}" dt="2024-03-12T18:05:21.721" v="18" actId="20577"/>
        <pc:sldMkLst>
          <pc:docMk/>
          <pc:sldMk cId="3289475291" sldId="277"/>
        </pc:sldMkLst>
      </pc:sldChg>
    </pc:docChg>
  </pc:docChgLst>
  <pc:docChgLst>
    <pc:chgData name="Dina Akylbekova" userId="d0186547-350c-4ee8-9f3b-afe70f175dd5" providerId="ADAL" clId="{6A4180C9-AC8C-492A-A0A8-281411F2C485}"/>
    <pc:docChg chg="custSel modSld">
      <pc:chgData name="Dina Akylbekova" userId="d0186547-350c-4ee8-9f3b-afe70f175dd5" providerId="ADAL" clId="{6A4180C9-AC8C-492A-A0A8-281411F2C485}" dt="2024-03-19T15:31:29.996" v="4" actId="1076"/>
      <pc:docMkLst>
        <pc:docMk/>
      </pc:docMkLst>
      <pc:sldChg chg="modSp mod">
        <pc:chgData name="Dina Akylbekova" userId="d0186547-350c-4ee8-9f3b-afe70f175dd5" providerId="ADAL" clId="{6A4180C9-AC8C-492A-A0A8-281411F2C485}" dt="2024-03-19T15:31:29.996" v="4" actId="1076"/>
        <pc:sldMkLst>
          <pc:docMk/>
          <pc:sldMk cId="0" sldId="266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3407680115" sldId="271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1299165562" sldId="275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2049148930" sldId="276"/>
        </pc:sldMkLst>
      </pc:sldChg>
      <pc:sldChg chg="modSp mod">
        <pc:chgData name="Dina Akylbekova" userId="d0186547-350c-4ee8-9f3b-afe70f175dd5" providerId="ADAL" clId="{6A4180C9-AC8C-492A-A0A8-281411F2C485}" dt="2024-03-19T15:28:47.188" v="0" actId="313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8CEBC8F0-1925-8894-B66D-92D3F8EEBCA2}"/>
    <pc:docChg chg="addSld delSld">
      <pc:chgData name="Ipek Beril Benli" userId="S::ipek.beril.benli@undp.org::8f9c5f4b-b22c-49ff-bdd5-d07e27607437" providerId="AD" clId="Web-{8CEBC8F0-1925-8894-B66D-92D3F8EEBCA2}" dt="2024-03-15T12:29:17.387" v="4"/>
      <pc:docMkLst>
        <pc:docMk/>
      </pc:docMkLst>
      <pc:sldChg chg="del">
        <pc:chgData name="Ipek Beril Benli" userId="S::ipek.beril.benli@undp.org::8f9c5f4b-b22c-49ff-bdd5-d07e27607437" providerId="AD" clId="Web-{8CEBC8F0-1925-8894-B66D-92D3F8EEBCA2}" dt="2024-03-15T12:29:17.372" v="3"/>
        <pc:sldMkLst>
          <pc:docMk/>
          <pc:sldMk cId="0" sldId="264"/>
        </pc:sldMkLst>
      </pc:sldChg>
      <pc:sldChg chg="del">
        <pc:chgData name="Ipek Beril Benli" userId="S::ipek.beril.benli@undp.org::8f9c5f4b-b22c-49ff-bdd5-d07e27607437" providerId="AD" clId="Web-{8CEBC8F0-1925-8894-B66D-92D3F8EEBCA2}" dt="2024-03-15T12:29:17.387" v="4"/>
        <pc:sldMkLst>
          <pc:docMk/>
          <pc:sldMk cId="0" sldId="267"/>
        </pc:sldMkLst>
      </pc:sldChg>
      <pc:sldChg chg="delCm">
        <pc:chgData name="Ipek Beril Benli" userId="S::ipek.beril.benli@undp.org::8f9c5f4b-b22c-49ff-bdd5-d07e27607437" providerId="AD" clId="Web-{8CEBC8F0-1925-8894-B66D-92D3F8EEBCA2}" dt="2024-03-15T12:27:56.634" v="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6.634" v="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Cm">
        <pc:chgData name="Ipek Beril Benli" userId="S::ipek.beril.benli@undp.org::8f9c5f4b-b22c-49ff-bdd5-d07e27607437" providerId="AD" clId="Web-{8CEBC8F0-1925-8894-B66D-92D3F8EEBCA2}" dt="2024-03-15T12:27:51.337" v="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1.337" v="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  <pc:sldChg chg="add">
        <pc:chgData name="Ipek Beril Benli" userId="S::ipek.beril.benli@undp.org::8f9c5f4b-b22c-49ff-bdd5-d07e27607437" providerId="AD" clId="Web-{8CEBC8F0-1925-8894-B66D-92D3F8EEBCA2}" dt="2024-03-15T12:29:03.262" v="2"/>
        <pc:sldMkLst>
          <pc:docMk/>
          <pc:sldMk cId="950368928" sldId="279"/>
        </pc:sldMkLst>
      </pc:sldChg>
    </pc:docChg>
  </pc:docChgLst>
  <pc:docChgLst>
    <pc:chgData name="Ipek Beril Benli" userId="S::ipek.beril.benli@undp.org::8f9c5f4b-b22c-49ff-bdd5-d07e27607437" providerId="AD" clId="Web-{70C7BC07-BB33-76A1-341B-B125B7987719}"/>
    <pc:docChg chg="modSld">
      <pc:chgData name="Ipek Beril Benli" userId="S::ipek.beril.benli@undp.org::8f9c5f4b-b22c-49ff-bdd5-d07e27607437" providerId="AD" clId="Web-{70C7BC07-BB33-76A1-341B-B125B7987719}" dt="2024-03-13T12:29:03.866" v="30" actId="1076"/>
      <pc:docMkLst>
        <pc:docMk/>
      </pc:docMkLst>
      <pc:sldChg chg="addSp delSp modSp">
        <pc:chgData name="Ipek Beril Benli" userId="S::ipek.beril.benli@undp.org::8f9c5f4b-b22c-49ff-bdd5-d07e27607437" providerId="AD" clId="Web-{70C7BC07-BB33-76A1-341B-B125B7987719}" dt="2024-03-13T12:29:03.866" v="30" actId="1076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683A36E5-4E3E-43CE-6D21-84A5124529EF}"/>
    <pc:docChg chg="modSld">
      <pc:chgData name="Ipek Beril Benli" userId="S::ipek.beril.benli@undp.org::8f9c5f4b-b22c-49ff-bdd5-d07e27607437" providerId="AD" clId="Web-{683A36E5-4E3E-43CE-6D21-84A5124529EF}" dt="2024-04-14T15:57:37.904" v="17" actId="1076"/>
      <pc:docMkLst>
        <pc:docMk/>
      </pc:docMkLst>
      <pc:sldChg chg="modSp">
        <pc:chgData name="Ipek Beril Benli" userId="S::ipek.beril.benli@undp.org::8f9c5f4b-b22c-49ff-bdd5-d07e27607437" providerId="AD" clId="Web-{683A36E5-4E3E-43CE-6D21-84A5124529EF}" dt="2024-04-14T15:57:37.904" v="17" actId="1076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5968C962-A29A-6388-5E21-A35FFA8A3C35}"/>
    <pc:docChg chg="modSld">
      <pc:chgData name="Ipek Beril Benli" userId="S::ipek.beril.benli@undp.org::8f9c5f4b-b22c-49ff-bdd5-d07e27607437" providerId="AD" clId="Web-{5968C962-A29A-6388-5E21-A35FFA8A3C35}" dt="2024-04-08T06:50:15.233" v="3"/>
      <pc:docMkLst>
        <pc:docMk/>
      </pc:docMkLst>
      <pc:sldChg chg="mod modShow">
        <pc:chgData name="Ipek Beril Benli" userId="S::ipek.beril.benli@undp.org::8f9c5f4b-b22c-49ff-bdd5-d07e27607437" providerId="AD" clId="Web-{5968C962-A29A-6388-5E21-A35FFA8A3C35}" dt="2024-04-08T06:50:15.233" v="3"/>
        <pc:sldMkLst>
          <pc:docMk/>
          <pc:sldMk cId="2049148930" sldId="276"/>
        </pc:sldMkLst>
      </pc:sldChg>
      <pc:sldChg chg="modSp">
        <pc:chgData name="Ipek Beril Benli" userId="S::ipek.beril.benli@undp.org::8f9c5f4b-b22c-49ff-bdd5-d07e27607437" providerId="AD" clId="Web-{5968C962-A29A-6388-5E21-A35FFA8A3C35}" dt="2024-04-08T06:49:43.092" v="2" actId="20577"/>
        <pc:sldMkLst>
          <pc:docMk/>
          <pc:sldMk cId="3289475291" sldId="277"/>
        </pc:sldMkLst>
      </pc:sldChg>
    </pc:docChg>
  </pc:docChgLst>
  <pc:docChgLst>
    <pc:chgData name="Ipek Beril Benli" userId="S::ipek.beril.benli@undp.org::8f9c5f4b-b22c-49ff-bdd5-d07e27607437" providerId="AD" clId="Web-{5101508F-0DAE-05F4-18B8-3033C3A7817F}"/>
    <pc:docChg chg="delSld">
      <pc:chgData name="Ipek Beril Benli" userId="S::ipek.beril.benli@undp.org::8f9c5f4b-b22c-49ff-bdd5-d07e27607437" providerId="AD" clId="Web-{5101508F-0DAE-05F4-18B8-3033C3A7817F}" dt="2024-03-19T09:16:41.707" v="0"/>
      <pc:docMkLst>
        <pc:docMk/>
      </pc:docMkLst>
      <pc:sldChg chg="del">
        <pc:chgData name="Ipek Beril Benli" userId="S::ipek.beril.benli@undp.org::8f9c5f4b-b22c-49ff-bdd5-d07e27607437" providerId="AD" clId="Web-{5101508F-0DAE-05F4-18B8-3033C3A7817F}" dt="2024-03-19T09:16:41.707" v="0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A699159B-CA30-B18E-23CC-B0705FD50A34}"/>
    <pc:docChg chg="addSld delSld modSld sldOrd">
      <pc:chgData name="Ipek Beril Benli" userId="S::ipek.beril.benli@undp.org::8f9c5f4b-b22c-49ff-bdd5-d07e27607437" providerId="AD" clId="Web-{A699159B-CA30-B18E-23CC-B0705FD50A34}" dt="2024-03-05T08:06:25.540" v="56" actId="1076"/>
      <pc:docMkLst>
        <pc:docMk/>
      </pc:docMkLst>
      <pc:sldChg chg="del">
        <pc:chgData name="Ipek Beril Benli" userId="S::ipek.beril.benli@undp.org::8f9c5f4b-b22c-49ff-bdd5-d07e27607437" providerId="AD" clId="Web-{A699159B-CA30-B18E-23CC-B0705FD50A34}" dt="2024-03-05T07:54:59.483" v="14"/>
        <pc:sldMkLst>
          <pc:docMk/>
          <pc:sldMk cId="0" sldId="261"/>
        </pc:sldMkLst>
      </pc:sldChg>
      <pc:sldChg chg="del">
        <pc:chgData name="Ipek Beril Benli" userId="S::ipek.beril.benli@undp.org::8f9c5f4b-b22c-49ff-bdd5-d07e27607437" providerId="AD" clId="Web-{A699159B-CA30-B18E-23CC-B0705FD50A34}" dt="2024-03-05T07:52:51.916" v="0"/>
        <pc:sldMkLst>
          <pc:docMk/>
          <pc:sldMk cId="0" sldId="262"/>
        </pc:sldMkLst>
      </pc:sldChg>
      <pc:sldChg chg="ord">
        <pc:chgData name="Ipek Beril Benli" userId="S::ipek.beril.benli@undp.org::8f9c5f4b-b22c-49ff-bdd5-d07e27607437" providerId="AD" clId="Web-{A699159B-CA30-B18E-23CC-B0705FD50A34}" dt="2024-03-05T08:03:25.642" v="32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A699159B-CA30-B18E-23CC-B0705FD50A34}" dt="2024-03-05T07:55:27.312" v="18" actId="1076"/>
        <pc:sldMkLst>
          <pc:docMk/>
          <pc:sldMk cId="2362704423" sldId="269"/>
        </pc:sldMkLst>
      </pc:sldChg>
      <pc:sldChg chg="modSp">
        <pc:chgData name="Ipek Beril Benli" userId="S::ipek.beril.benli@undp.org::8f9c5f4b-b22c-49ff-bdd5-d07e27607437" providerId="AD" clId="Web-{A699159B-CA30-B18E-23CC-B0705FD50A34}" dt="2024-03-05T08:06:25.540" v="56" actId="1076"/>
        <pc:sldMkLst>
          <pc:docMk/>
          <pc:sldMk cId="3407680115" sldId="271"/>
        </pc:sldMkLst>
      </pc:sldChg>
      <pc:sldChg chg="addCm">
        <pc:chgData name="Ipek Beril Benli" userId="S::ipek.beril.benli@undp.org::8f9c5f4b-b22c-49ff-bdd5-d07e27607437" providerId="AD" clId="Web-{A699159B-CA30-B18E-23CC-B0705FD50A34}" dt="2024-03-05T07:59:24.727" v="3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9:24.727" v="3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Sp modSp">
        <pc:chgData name="Ipek Beril Benli" userId="S::ipek.beril.benli@undp.org::8f9c5f4b-b22c-49ff-bdd5-d07e27607437" providerId="AD" clId="Web-{A699159B-CA30-B18E-23CC-B0705FD50A34}" dt="2024-03-05T07:56:10.048" v="28"/>
        <pc:sldMkLst>
          <pc:docMk/>
          <pc:sldMk cId="2049148930" sldId="276"/>
        </pc:sldMkLst>
      </pc:sldChg>
      <pc:sldChg chg="addSp modSp add del">
        <pc:chgData name="Ipek Beril Benli" userId="S::ipek.beril.benli@undp.org::8f9c5f4b-b22c-49ff-bdd5-d07e27607437" providerId="AD" clId="Web-{A699159B-CA30-B18E-23CC-B0705FD50A34}" dt="2024-03-05T07:54:08.700" v="10"/>
        <pc:sldMkLst>
          <pc:docMk/>
          <pc:sldMk cId="3289475291" sldId="277"/>
        </pc:sldMkLst>
      </pc:sldChg>
      <pc:sldChg chg="addSp modSp add addCm">
        <pc:chgData name="Ipek Beril Benli" userId="S::ipek.beril.benli@undp.org::8f9c5f4b-b22c-49ff-bdd5-d07e27607437" providerId="AD" clId="Web-{A699159B-CA30-B18E-23CC-B0705FD50A34}" dt="2024-03-05T07:58:45.679" v="3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8:45.679" v="3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 0 8642 0 0,'0'0'0'0'0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 0 8642 0 0,'0'0'0'0'0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2663439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2778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6549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373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2904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6001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6899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170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56290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0120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53450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78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467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2556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5560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502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36320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700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customXml" Target="../ink/ink2.xml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customXml" Target="../ink/ink4.xml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0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20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2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2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2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2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30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3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3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13" Type="http://schemas.openxmlformats.org/officeDocument/2006/relationships/hyperlink" Target="https://eudl.eu/doi/10.4108/eai.14-9-2020.2304433?utm_source=chatgpt.com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hyperlink" Target="https://arxiv.org/abs/2508.20496?utm_source=chatgpt.com" TargetMode="External"/><Relationship Id="rId17" Type="http://schemas.openxmlformats.org/officeDocument/2006/relationships/hyperlink" Target="https://link.springer.com/article/10.1007/s00521-021-06872-0?utm_source=chatgpt.com" TargetMode="External"/><Relationship Id="rId2" Type="http://schemas.openxmlformats.org/officeDocument/2006/relationships/notesSlide" Target="../notesSlides/notesSlide18.xml"/><Relationship Id="rId16" Type="http://schemas.openxmlformats.org/officeDocument/2006/relationships/hyperlink" Target="https://www.mdpi.com/2673-4060/5/2/24?utm_source=chatgpt.com" TargetMode="Externa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hyperlink" Target="https://www.mdpi.com/0718-1876/20/3/194?utm_source=chatgpt.com" TargetMode="External"/><Relationship Id="rId10" Type="http://schemas.openxmlformats.org/officeDocument/2006/relationships/customXml" Target="../ink/ink3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hyperlink" Target="https://journal.ummat.ac.id/index.php/justek/article/view/29453?utm_source=chatgpt.com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6E8DDA74-8630-43BB-E564-7470D2C1DF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" t="125" r="5881" b="35700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6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7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119D6634-8C52-56C8-C196-BBFF1A999BF3}"/>
              </a:ext>
            </a:extLst>
          </p:cNvPr>
          <p:cNvSpPr/>
          <p:nvPr/>
        </p:nvSpPr>
        <p:spPr>
          <a:xfrm rot="21420000">
            <a:off x="6615715" y="4564347"/>
            <a:ext cx="2705697" cy="61297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76" name="A new generation…"/>
          <p:cNvSpPr txBox="1"/>
          <p:nvPr/>
        </p:nvSpPr>
        <p:spPr>
          <a:xfrm>
            <a:off x="5586902" y="3372195"/>
            <a:ext cx="4763321" cy="1800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latin typeface="Microsoft YaHei"/>
              </a:rPr>
              <a:t>Uma nova </a:t>
            </a:r>
            <a:r>
              <a:rPr lang="pt" b="1" dirty="0" err="1">
                <a:latin typeface="Microsoft YaHei"/>
              </a:rPr>
              <a:t>geração</a:t>
            </a:r>
            <a:r>
              <a:rPr lang="pt" b="1" dirty="0">
                <a:latin typeface="Microsoft YaHei"/>
              </a:rPr>
              <a:t> </a:t>
            </a: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latin typeface="Microsoft YaHei"/>
              </a:rPr>
              <a:t>de </a:t>
            </a:r>
            <a:r>
              <a:rPr lang="pt" b="1" dirty="0" err="1">
                <a:latin typeface="Microsoft YaHei"/>
              </a:rPr>
              <a:t>especialistas </a:t>
            </a:r>
            <a:r>
              <a:rPr lang="pt" b="1" dirty="0">
                <a:latin typeface="Microsoft YaHei"/>
              </a:rPr>
              <a:t>em </a:t>
            </a:r>
            <a:r>
              <a:rPr lang="pt" b="1" dirty="0" err="1">
                <a:latin typeface="Microsoft YaHei"/>
              </a:rPr>
              <a:t>tecnologia</a:t>
            </a:r>
            <a:endParaRPr b="1" dirty="0">
              <a:latin typeface="Microsoft YaHei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Google Shape;282;p41"/>
          <p:cNvSpPr txBox="1"/>
          <p:nvPr/>
        </p:nvSpPr>
        <p:spPr>
          <a:xfrm>
            <a:off x="6949076" y="2709836"/>
            <a:ext cx="3966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24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Projeto: Nzola</a:t>
            </a:r>
            <a:endParaRPr sz="2400" b="1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" sz="24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Grupo: nº 8</a:t>
            </a:r>
            <a:endParaRPr sz="2400" b="1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682935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"/>
          <p:cNvSpPr/>
          <p:nvPr/>
        </p:nvSpPr>
        <p:spPr>
          <a:xfrm>
            <a:off x="640854" y="1926543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80156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Participantes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Google Shape;287;p42"/>
          <p:cNvSpPr txBox="1">
            <a:spLocks noGrp="1"/>
          </p:cNvSpPr>
          <p:nvPr>
            <p:ph type="body" idx="1"/>
          </p:nvPr>
        </p:nvSpPr>
        <p:spPr>
          <a:xfrm>
            <a:off x="640854" y="3013773"/>
            <a:ext cx="6530911" cy="317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pt-PT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Celmira</a:t>
            </a:r>
            <a:r>
              <a:rPr lang="pt-PT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Leontina </a:t>
            </a:r>
            <a:r>
              <a:rPr lang="pt-PT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Longuia</a:t>
            </a:r>
            <a:endParaRPr lang="pt-PT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14300" indent="0">
              <a:buNone/>
            </a:pPr>
            <a:r>
              <a:rPr lang="pt-PT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Edmundo Dombo Xavier</a:t>
            </a:r>
          </a:p>
          <a:p>
            <a:pPr marL="114300" indent="0">
              <a:buNone/>
            </a:pPr>
            <a:r>
              <a:rPr lang="pt-PT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Gomes Francisco Mateus</a:t>
            </a:r>
          </a:p>
          <a:p>
            <a:pPr marL="114300" indent="0">
              <a:buNone/>
            </a:pPr>
            <a:r>
              <a:rPr lang="pt-PT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Jorge inicio</a:t>
            </a:r>
          </a:p>
          <a:p>
            <a:pPr marL="114300" indent="0">
              <a:buNone/>
            </a:pPr>
            <a:r>
              <a:rPr lang="pt-PT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Meclanio</a:t>
            </a:r>
            <a:r>
              <a:rPr lang="pt-PT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Tomas Ramos</a:t>
            </a:r>
          </a:p>
          <a:p>
            <a:pPr marL="114300" indent="0">
              <a:buNone/>
            </a:pPr>
            <a:r>
              <a:rPr lang="pt-PT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Ordem José Valentim Afonso</a:t>
            </a:r>
          </a:p>
          <a:p>
            <a:pPr marL="114300" indent="0">
              <a:buNone/>
            </a:pPr>
            <a:r>
              <a:rPr lang="pt-PT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José Lopes de Andrade Santos</a:t>
            </a:r>
          </a:p>
          <a:p>
            <a:pPr marL="44450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+mj-lt"/>
              <a:buAutoNum type="arabicPeriod"/>
            </a:pPr>
            <a:endParaRPr sz="18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fontScale="62500" lnSpcReduction="20000"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Nota conceitual e plano de implementação :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Contexto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Objetivos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Relação ODS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Dados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Coleta de dados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Análise Exploratória de Dados (EDA) e Engenharia de Recursos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Seleção e Treinamento de Modelos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Avaliação de Modelos e Ajuste 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Refinamento e Teste de Modelos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Resultados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Implantação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Trabalho Futuro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40854" y="1926543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80156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geral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361648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O turismo é uma força econômica global, mas sua expansão gera pressões ambientais e sociais.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O projeto </a:t>
            </a:r>
            <a:r>
              <a:rPr lang="pt-PT" sz="1600" dirty="0" err="1">
                <a:latin typeface="Microsoft YaHei Light"/>
              </a:rPr>
              <a:t>Nzola</a:t>
            </a:r>
            <a:r>
              <a:rPr lang="pt-PT" sz="1600" dirty="0">
                <a:latin typeface="Microsoft YaHei Light"/>
              </a:rPr>
              <a:t> usa IA e Engenharia de Dados para oferecer recomendações sustentáveis a viajantes, reduzindo impactos e promovendo escolhas conscientes.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1- </a:t>
            </a:r>
            <a:r>
              <a:rPr lang="pt-PT" sz="1600" dirty="0">
                <a:latin typeface="Microsoft YaHei Light"/>
              </a:rPr>
              <a:t>Criar uma plataforma web que integre IA e </a:t>
            </a:r>
            <a:r>
              <a:rPr lang="pt-PT" sz="1600" dirty="0" err="1">
                <a:latin typeface="Microsoft YaHei Light"/>
              </a:rPr>
              <a:t>geolocalização</a:t>
            </a:r>
            <a:r>
              <a:rPr lang="pt-PT" sz="1600" dirty="0">
                <a:latin typeface="Microsoft YaHei Light"/>
              </a:rPr>
              <a:t>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2- Fornecer recomendações personalizadas com base em preferências e contexto.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3- Utilizar modelos de aprendizado supervisionado (</a:t>
            </a:r>
            <a:r>
              <a:rPr lang="pt-PT" sz="1600" dirty="0" err="1">
                <a:latin typeface="Microsoft YaHei Light"/>
              </a:rPr>
              <a:t>sklearn</a:t>
            </a:r>
            <a:r>
              <a:rPr lang="pt-PT" sz="1600" dirty="0">
                <a:latin typeface="Microsoft YaHei Light"/>
              </a:rPr>
              <a:t> + </a:t>
            </a:r>
            <a:r>
              <a:rPr lang="pt-PT" sz="1600" dirty="0" err="1">
                <a:latin typeface="Microsoft YaHei Light"/>
              </a:rPr>
              <a:t>PyTorch</a:t>
            </a:r>
            <a:r>
              <a:rPr lang="pt-PT" sz="1600" dirty="0">
                <a:latin typeface="Microsoft YaHei Light"/>
              </a:rPr>
              <a:t>).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4- Apoiar o turismo sustentável e políticas públicas.</a:t>
            </a: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Objetivos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473247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11164" y="2095993"/>
            <a:ext cx="7066233" cy="4013863"/>
          </a:xfrm>
          <a:prstGeom prst="rect">
            <a:avLst/>
          </a:prstGeom>
        </p:spPr>
        <p:txBody>
          <a:bodyPr lIns="45719" tIns="45720" rIns="45719" bIns="45720" anchor="ctr">
            <a:normAutofit fontScale="85000" lnSpcReduction="20000"/>
          </a:bodyPr>
          <a:lstStyle/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400" dirty="0">
              <a:sym typeface="Merriweather Sans Light"/>
            </a:endParaRP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400" dirty="0">
                <a:sym typeface="Merriweather Sans Light"/>
              </a:rPr>
              <a:t>O turismo sustentável tem emergido como uma das principais áreas de investigação no turismo contemporâneo. A crescente preocupação com os impactos ambientais, sociais e económicos das atividades turísticas levou ao desenvolvimento de soluções tecnológicas que promovem práticas mais equilibradas e responsáveis.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br>
              <a:rPr lang="pt-PT" sz="1400" dirty="0">
                <a:sym typeface="Merriweather Sans Light"/>
              </a:rPr>
            </a:br>
            <a:r>
              <a:rPr lang="pt-PT" sz="1400" dirty="0">
                <a:sym typeface="Merriweather Sans Light"/>
              </a:rPr>
              <a:t>Nesse contexto, a integração de </a:t>
            </a:r>
            <a:r>
              <a:rPr lang="pt-PT" sz="1400" b="1" dirty="0">
                <a:sym typeface="Merriweather Sans Light"/>
              </a:rPr>
              <a:t>Inteligência Artificial (IA)</a:t>
            </a:r>
            <a:r>
              <a:rPr lang="pt-PT" sz="1400" dirty="0">
                <a:sym typeface="Merriweather Sans Light"/>
              </a:rPr>
              <a:t> e </a:t>
            </a:r>
            <a:r>
              <a:rPr lang="pt-PT" sz="1400" b="1" dirty="0">
                <a:sym typeface="Merriweather Sans Light"/>
              </a:rPr>
              <a:t>tecnologias de </a:t>
            </a:r>
            <a:r>
              <a:rPr lang="pt-PT" sz="1400" b="1" dirty="0" err="1">
                <a:sym typeface="Merriweather Sans Light"/>
              </a:rPr>
              <a:t>geolocalização</a:t>
            </a:r>
            <a:r>
              <a:rPr lang="pt-PT" sz="1400" dirty="0">
                <a:sym typeface="Merriweather Sans Light"/>
              </a:rPr>
              <a:t> em plataformas digitais tem ganhado destaque, permitindo oferecer </a:t>
            </a:r>
            <a:r>
              <a:rPr lang="pt-PT" sz="1400" b="1" dirty="0">
                <a:sym typeface="Merriweather Sans Light"/>
              </a:rPr>
              <a:t>recomendações personalizadas</a:t>
            </a:r>
            <a:r>
              <a:rPr lang="pt-PT" sz="1400" dirty="0">
                <a:sym typeface="Merriweather Sans Light"/>
              </a:rPr>
              <a:t> que incentivam comportamentos de viagem mais sustentáveis e conscientes.</a:t>
            </a:r>
          </a:p>
          <a:p>
            <a:pPr algn="just"/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Turismo Sustentável: Contexto e Tendências</a:t>
            </a:r>
          </a:p>
          <a:p>
            <a:pPr marL="0" indent="0" algn="just">
              <a:buNone/>
            </a:pP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O conceito de </a:t>
            </a: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turismo sustentável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procura equilibrar o desenvolvimento económico com a conservação ambiental e o bem-estar social (</a:t>
            </a:r>
            <a:r>
              <a:rPr lang="pt-PT" sz="14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Sciendo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2024; EUDL, 2020).</a:t>
            </a:r>
            <a:b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</a:b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Após a pandemia da COVID-19, observou-se um aumento significativo de pesquisas sobre sustentabilidade no turismo, abordando temas como o planeamento de destinos, a gestão de recursos naturais e o envolvimento das comunidades locais.</a:t>
            </a:r>
          </a:p>
          <a:p>
            <a:pPr marL="0" indent="0" algn="just">
              <a:buNone/>
            </a:pP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No turismo rural, por exemplo, estudos destacam o papel das comunidades na preservação dos recursos e na criação de experiências autênticas (</a:t>
            </a:r>
            <a:r>
              <a:rPr lang="pt-PT" sz="14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Journal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4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Ummat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2023).</a:t>
            </a:r>
          </a:p>
          <a:p>
            <a:pPr marL="0" indent="0" algn="just">
              <a:buNone/>
            </a:pPr>
            <a:b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</a:b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Apesar desses avanços conceituais, a maioria das investigações continua centrada em </a:t>
            </a: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abordagens políticas e de gestão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havendo espaço para a introdução de </a:t>
            </a: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soluções tecnológicas baseadas em IA e dados </a:t>
            </a:r>
            <a:r>
              <a:rPr lang="pt-PT" sz="14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geoespaciais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400" dirty="0">
              <a:solidFill>
                <a:schemeClr val="bg1">
                  <a:lumMod val="50000"/>
                </a:schemeClr>
              </a:solidFill>
              <a:latin typeface="Merriweather Sans Light"/>
              <a:sym typeface="Merriweather Sans Light"/>
            </a:endParaRP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32990" y="1184446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575539" y="1065415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-PT" sz="3393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Merriweather Sans Regular"/>
              </a:rPr>
              <a:t>Revisão da Literatura</a:t>
            </a:r>
            <a:endParaRPr lang="tr-TR" sz="3350" b="1" dirty="0">
              <a:solidFill>
                <a:schemeClr val="bg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2654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11164" y="2095993"/>
            <a:ext cx="7066233" cy="4013863"/>
          </a:xfrm>
          <a:prstGeom prst="rect">
            <a:avLst/>
          </a:prstGeom>
        </p:spPr>
        <p:txBody>
          <a:bodyPr lIns="45719" tIns="45720" rIns="45719" bIns="45720" anchor="ctr">
            <a:normAutofit fontScale="92500" lnSpcReduction="10000"/>
          </a:bodyPr>
          <a:lstStyle/>
          <a:p>
            <a:pPr algn="just"/>
            <a:r>
              <a:rPr lang="pt-PT" sz="1400" b="1" dirty="0">
                <a:latin typeface="Merriweather Sans Light"/>
              </a:rPr>
              <a:t>Sistemas de Recomendação no Turismo</a:t>
            </a:r>
          </a:p>
          <a:p>
            <a:pPr marL="0" indent="0" algn="just">
              <a:buNone/>
            </a:pPr>
            <a:r>
              <a:rPr lang="pt-PT" sz="15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Sistemas de Recomendação no Turismo</a:t>
            </a:r>
          </a:p>
          <a:p>
            <a:pPr marL="0" indent="0" algn="just">
              <a:buNone/>
            </a:pP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Os </a:t>
            </a: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sistemas de recomendação (RS)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tornaram-se fundamentais nas plataformas digitais de turismo, ao personalizarem sugestões de destinos, atividades e roteiros com base nas preferências dos utilizadores.</a:t>
            </a:r>
          </a:p>
          <a:p>
            <a:pPr marL="0" indent="0" algn="just">
              <a:buNone/>
            </a:pP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Uma revisão sistemática identificou mais de 140 estudos entre 2012 e 2020 que exploram recomendações contextuais, considerando variáveis como localização, hora do dia e perfil do viajante (</a:t>
            </a:r>
            <a:r>
              <a:rPr lang="pt-PT" sz="14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EconPapers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2021).</a:t>
            </a:r>
          </a:p>
          <a:p>
            <a:pPr marL="0" indent="0" algn="just">
              <a:buNone/>
            </a:pP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Segundo OUCI (2024), os principais tipos de RS aplicados ao turismo são:</a:t>
            </a:r>
          </a:p>
          <a:p>
            <a:pPr algn="just"/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Filtragem colaborativa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que baseia recomendações nas preferências de utilizadores semelhantes;</a:t>
            </a:r>
          </a:p>
          <a:p>
            <a:pPr algn="just"/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Filtragem baseada em conteúdo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que foca nas características dos destinos e atividades;</a:t>
            </a:r>
          </a:p>
          <a:p>
            <a:pPr algn="just"/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Modelos híbridos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que combinam várias abordagens para melhorar precisão e relevância.</a:t>
            </a:r>
          </a:p>
          <a:p>
            <a:pPr algn="just"/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Esses sistemas utilizam técnicas de </a:t>
            </a: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aprendizagem automática (</a:t>
            </a:r>
            <a:r>
              <a:rPr lang="pt-PT" sz="14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machine</a:t>
            </a: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4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learning</a:t>
            </a: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)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e </a:t>
            </a: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aprendizagem profunda (</a:t>
            </a:r>
            <a:r>
              <a:rPr lang="pt-PT" sz="14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deep</a:t>
            </a: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4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learning</a:t>
            </a: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)</a:t>
            </a:r>
            <a:r>
              <a:rPr lang="pt-PT" sz="14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para prever preferências e ajustar recomendações dinamicamente.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400" dirty="0">
              <a:solidFill>
                <a:schemeClr val="bg1">
                  <a:lumMod val="50000"/>
                </a:schemeClr>
              </a:solidFill>
              <a:latin typeface="Merriweather Sans Light"/>
              <a:sym typeface="Merriweather Sans Light"/>
            </a:endParaRP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erriweather Sans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32990" y="1184446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575539" y="1065415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-PT" sz="3393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Merriweather Sans Regular"/>
              </a:rPr>
              <a:t>Revisão da Literatura</a:t>
            </a:r>
            <a:endParaRPr lang="tr-TR" sz="3350" b="1" dirty="0">
              <a:solidFill>
                <a:schemeClr val="bg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106015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11164" y="2095993"/>
            <a:ext cx="7066233" cy="4013863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 algn="just">
              <a:buNone/>
            </a:pP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Integração de IA e </a:t>
            </a:r>
            <a:r>
              <a:rPr lang="pt-PT" sz="14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Geolocalização</a:t>
            </a:r>
            <a:endParaRPr lang="pt-PT" sz="1400" b="1" dirty="0">
              <a:solidFill>
                <a:schemeClr val="bg1">
                  <a:lumMod val="50000"/>
                </a:schemeClr>
              </a:solidFill>
              <a:latin typeface="Merriweather Sans Light"/>
            </a:endParaRP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O desenvolvimento de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sistemas de recomendação baseados em localização (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Location-Based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Recommender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Systems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)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tem sido impulsionado pela disseminação de tecnologias móveis e sensores </a:t>
            </a: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geoespaciais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.</a:t>
            </a:r>
          </a:p>
          <a:p>
            <a:pPr marL="0" indent="0" algn="just">
              <a:buNone/>
            </a:pP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Zhao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et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al. (2021) propuseram um algoritmo de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clusterização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geoespacial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combinada com filtragem colaborativa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para recomendar atrações turísticas e rotas, considerando a localização do utilizador.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De forma semelhante, um estudo de Springer (2021) aplicou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deep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learning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e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Internet das Coisas (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IoT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)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para fornecer recomendações em </a:t>
            </a:r>
            <a:r>
              <a:rPr lang="pt-PT" sz="1300" i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smart</a:t>
            </a:r>
            <a:r>
              <a:rPr lang="pt-PT" sz="1300" i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300" i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cities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.</a:t>
            </a:r>
          </a:p>
          <a:p>
            <a:pPr algn="just"/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Essas abordagens demonstram o potencial da IA para:</a:t>
            </a:r>
          </a:p>
          <a:p>
            <a:pPr algn="just"/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Analisar fluxos de visitantes e padrões de mobilidade;</a:t>
            </a:r>
          </a:p>
          <a:p>
            <a:pPr algn="just"/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Identificar áreas de sobrecarga turística;</a:t>
            </a:r>
          </a:p>
          <a:p>
            <a:pPr algn="just"/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Sugerir rotas alternativas baseadas em contexto e localização.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Assim, a integração de IA e </a:t>
            </a: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geolocalização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constitui uma base sólida para a criação de experiências turísticas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inteligentes, adaptativas e sustentáveis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.</a:t>
            </a:r>
          </a:p>
          <a:p>
            <a:pPr marL="0" indent="0" algn="just">
              <a:buNone/>
            </a:pPr>
            <a:endParaRPr lang="pt-PT" sz="1400" b="1" dirty="0">
              <a:latin typeface="Merriweather Sans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32990" y="1184446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575539" y="1065415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-PT" sz="3393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Merriweather Sans Regular"/>
              </a:rPr>
              <a:t>Revisão da Literatura</a:t>
            </a:r>
            <a:endParaRPr lang="tr-TR" sz="3350" b="1" dirty="0">
              <a:solidFill>
                <a:schemeClr val="bg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688238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11164" y="1739732"/>
            <a:ext cx="7066233" cy="4013863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 algn="just">
              <a:buNone/>
            </a:pP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Recomendação Orientada à Sustentabilidade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Nos últimos anos, a sustentabilidade tornou-se um critério explícito em alguns sistemas de recomendação.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O projeto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OurSCARA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(MDPI, 2024) introduziu recomendações conscientes (“</a:t>
            </a: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awareness-based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”), que priorizam atrações com menor impacto ambiental e maior relevância cultural.</a:t>
            </a:r>
          </a:p>
          <a:p>
            <a:pPr marL="0" indent="0" algn="just">
              <a:buNone/>
            </a:pP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Müller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et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al. (2025) desenvolveram modelos de </a:t>
            </a:r>
            <a:r>
              <a:rPr lang="pt-PT" sz="1300" i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machine</a:t>
            </a:r>
            <a:r>
              <a:rPr lang="pt-PT" sz="1300" i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300" i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learning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para identificar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rotas alternativas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que reduzem a pressão sobre áreas sensíveis.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Pesquisas recentes também exploram o uso de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modelos de linguagem (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LLMs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)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e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retrieval-augmented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generation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(RAG)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para aumentar a transparência e explicar os critérios de sustentabilidade nas recomendações (</a:t>
            </a: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ArXiv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2024).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Esses avanços apontam para uma nova geração de sistemas de recomendação que não apenas atendem preferências, mas também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educam o utilizador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sobre práticas de turismo responsável.</a:t>
            </a:r>
          </a:p>
          <a:p>
            <a:pPr marL="0" indent="0" algn="just">
              <a:buNone/>
            </a:pPr>
            <a:endParaRPr lang="pt-PT" sz="1400" b="1" dirty="0">
              <a:latin typeface="Merriweather Sans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32990" y="1184446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575539" y="1065415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-PT" sz="3393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Merriweather Sans Regular"/>
              </a:rPr>
              <a:t>Revisão da Literatura</a:t>
            </a:r>
            <a:endParaRPr lang="tr-TR" sz="3350" b="1" dirty="0">
              <a:solidFill>
                <a:schemeClr val="bg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55400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11164" y="1739732"/>
            <a:ext cx="7066233" cy="4013863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 algn="just">
              <a:buNone/>
            </a:pP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Desafios e Lacunas Identificadas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Apesar dos avanços, a literatura apresenta várias lacunas que merecem atenção:</a:t>
            </a:r>
          </a:p>
          <a:p>
            <a:pPr algn="just"/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Medição da sustentabilidade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– poucos sistemas incorporam métricas quantitativas de impacto ambiental, social ou económico (</a:t>
            </a: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ArXiv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2025).</a:t>
            </a:r>
          </a:p>
          <a:p>
            <a:pPr algn="just"/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Disponibilidade de dados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– a falta de dados </a:t>
            </a: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geoespaciais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precisos, especialmente em regiões com infraestrutura limitada, reduz a eficácia dos modelos.</a:t>
            </a:r>
          </a:p>
          <a:p>
            <a:pPr algn="just"/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Integração técnica completa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– ainda são escassos os projetos que unem IA (por exemplo, </a:t>
            </a:r>
            <a:r>
              <a:rPr lang="pt-PT" sz="1300" i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scikit-learn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e </a:t>
            </a:r>
            <a:r>
              <a:rPr lang="pt-PT" sz="1300" i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PyTorch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), </a:t>
            </a: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geolocalização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e indicadores sustentáveis.</a:t>
            </a:r>
          </a:p>
          <a:p>
            <a:pPr algn="just"/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Explicabilidade e ética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– a transparência sobre o funcionamento dos algoritmos de recomendação ainda é um desafio (MDPI, 2023).</a:t>
            </a:r>
          </a:p>
          <a:p>
            <a:pPr algn="just"/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Articulação com políticas públicas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– poucos sistemas de recomendação estão conectados à gestão de destinos ou a políticas de turismo sustentável.</a:t>
            </a:r>
          </a:p>
          <a:p>
            <a:pPr marL="0" indent="0" algn="just">
              <a:buNone/>
            </a:pPr>
            <a:endParaRPr lang="pt-PT" sz="1400" b="1" dirty="0">
              <a:latin typeface="Merriweather Sans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32990" y="1184446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575539" y="1065415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-PT" sz="3393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Merriweather Sans Regular"/>
              </a:rPr>
              <a:t>Revisão da Literatura</a:t>
            </a:r>
            <a:endParaRPr lang="tr-TR" sz="3350" b="1" dirty="0">
              <a:solidFill>
                <a:schemeClr val="bg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83695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11164" y="1852553"/>
            <a:ext cx="7066233" cy="4013863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 algn="just">
              <a:buNone/>
            </a:pP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Oportunidades de Investigação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Com base nas lacunas identificadas, emergem diversas oportunidades de investigação e inovação:</a:t>
            </a:r>
          </a:p>
          <a:p>
            <a:pPr algn="just"/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Modelos supervisionados e híbridos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utilizando </a:t>
            </a:r>
            <a:r>
              <a:rPr lang="pt-PT" sz="1300" i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scikit-learn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e </a:t>
            </a:r>
            <a:r>
              <a:rPr lang="pt-PT" sz="1300" i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PyTorch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para prever preferências turísticas e impacto ambiental;</a:t>
            </a:r>
          </a:p>
          <a:p>
            <a:pPr algn="just"/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Uso de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geolocalização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e contexto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em tempo real, sugerindo destinos menos congestionados;</a:t>
            </a:r>
          </a:p>
          <a:p>
            <a:pPr algn="just"/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Integração de métricas de sustentabilidade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(pegada de carbono, benefícios comunitários, acessibilidade);</a:t>
            </a:r>
          </a:p>
          <a:p>
            <a:pPr algn="just"/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Criação de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dashboards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que auxiliem gestores públicos e autoridades na tomada de decisão baseada em dados;</a:t>
            </a:r>
          </a:p>
          <a:p>
            <a:pPr algn="just"/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Interfaces explicativas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que informem o utilizador sobre o impacto e o valor sustentável de cada escolha.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Essas direções alinham-se com os princípios do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turismo inteligente e responsável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fortalecendo o elo entre tecnologia, sustentabilidade e políticas públicas.</a:t>
            </a:r>
          </a:p>
          <a:p>
            <a:pPr marL="0" indent="0" algn="just">
              <a:buNone/>
            </a:pPr>
            <a:endParaRPr lang="pt-PT" sz="1400" b="1" dirty="0">
              <a:latin typeface="Merriweather Sans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32990" y="1184446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575539" y="1065415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-PT" sz="3393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Merriweather Sans Regular"/>
              </a:rPr>
              <a:t>Revisão da Literatura</a:t>
            </a:r>
            <a:endParaRPr lang="tr-TR" sz="3350" b="1" dirty="0">
              <a:solidFill>
                <a:schemeClr val="bg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018652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1822273"/>
            <a:ext cx="7066233" cy="340879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 algn="just">
              <a:buNone/>
            </a:pPr>
            <a:r>
              <a:rPr lang="pt-PT" sz="14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Síntese da Revisão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 literatura evidencia progressos importantes na aplicação de IA e </a:t>
            </a:r>
            <a:r>
              <a:rPr lang="pt-PT" sz="1300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geolocalização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ao turismo, mas revela que a integração plena entre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personalização, contexto e sustentabilidade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ainda é limitada.</a:t>
            </a:r>
            <a:b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</a:b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Há necessidade de plataformas que combinem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aprendizagem supervisionada, recomendações contextuais e indicadores de sustentabilidade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com capacidade de apoiar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decisões públicas e práticas de gestão responsável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.</a:t>
            </a:r>
          </a:p>
          <a:p>
            <a:pPr marL="0" indent="0" algn="just">
              <a:buNone/>
            </a:pP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O projeto proposto nesta investigação surge, portanto, como uma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contribuição inovadora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ao propor o desenvolvimento de uma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plataforma web baseada em IA (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scikit-learn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+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PyTorch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)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com </a:t>
            </a:r>
            <a:r>
              <a:rPr lang="pt-PT" sz="1300" b="1" dirty="0" err="1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geolocalização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 e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recomendações personalizadas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, voltada ao </a:t>
            </a:r>
            <a:r>
              <a:rPr lang="pt-PT" sz="1300" b="1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turismo sustentável e à formulação de políticas públicas</a:t>
            </a:r>
            <a:r>
              <a:rPr lang="pt-PT" sz="1300" dirty="0">
                <a:solidFill>
                  <a:schemeClr val="bg1">
                    <a:lumMod val="50000"/>
                  </a:schemeClr>
                </a:solidFill>
                <a:latin typeface="Merriweather Sans Light"/>
              </a:rPr>
              <a:t>.</a:t>
            </a:r>
          </a:p>
          <a:p>
            <a:pPr marL="0" indent="0" algn="just">
              <a:buNone/>
            </a:pPr>
            <a:endParaRPr lang="pt-PT" sz="1300" b="1" dirty="0">
              <a:latin typeface="Merriweather Sans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32990" y="1184446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575539" y="1065415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-PT" sz="3393" b="1" dirty="0">
                <a:solidFill>
                  <a:schemeClr val="bg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sym typeface="Merriweather Sans Regular"/>
              </a:rPr>
              <a:t>Revisão da Literatura</a:t>
            </a:r>
            <a:endParaRPr lang="tr-TR" sz="3350" b="1" dirty="0">
              <a:solidFill>
                <a:schemeClr val="bg1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993340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🌱 ODS 8 — Trabalho Decente e Crescimento Econômico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🌍 ODS 11 — Cidades e Comunidades Sustentáveis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🌿 ODS 12 — Consumo e Produção Responsáveis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💧 ODS 13 — Ação Contra as Mudanças Climáticas </a:t>
            </a:r>
            <a:endParaRPr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98305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Relação com ODS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937931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Dados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0988935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Fontes: bases públicas e dados próprios sobre destinos turísticos.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Atributos: custo, tipo de ecossistema, impacto ambiental, visitantes anuais, </a:t>
            </a:r>
            <a:r>
              <a:rPr lang="pt-PT" sz="1600" dirty="0" err="1">
                <a:latin typeface="Microsoft YaHei Light"/>
              </a:rPr>
              <a:t>tags</a:t>
            </a:r>
            <a:r>
              <a:rPr lang="pt-PT" sz="1600" dirty="0">
                <a:latin typeface="Microsoft YaHei Light"/>
              </a:rPr>
              <a:t> e localização.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Processamento: limpeza, normalização, e engenharia de variáveis em pandas.</a:t>
            </a: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Dados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5345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Modelo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16113474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Análise Exploratória e Engenharia de Recursos: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Identificação de correlações entre sustentabilidade e popularidade.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Criação de métricas compostas para impacto ecológico.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Geração de </a:t>
            </a:r>
            <a:r>
              <a:rPr lang="pt-PT" sz="1600" dirty="0" err="1">
                <a:latin typeface="Microsoft YaHei Light"/>
              </a:rPr>
              <a:t>embeddings</a:t>
            </a:r>
            <a:r>
              <a:rPr lang="pt-PT" sz="1600" dirty="0">
                <a:latin typeface="Microsoft YaHei Light"/>
              </a:rPr>
              <a:t> TF-IDF para análise semântica de </a:t>
            </a:r>
            <a:r>
              <a:rPr lang="pt-PT" sz="1600" dirty="0" err="1">
                <a:latin typeface="Microsoft YaHei Light"/>
              </a:rPr>
              <a:t>tags</a:t>
            </a:r>
            <a:r>
              <a:rPr lang="pt-PT" sz="1600" dirty="0">
                <a:latin typeface="Microsoft YaHei Light"/>
              </a:rPr>
              <a:t>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Modelagem (IA/ML):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Camada 1: TF-IDF + Similaridade de Cosseno (</a:t>
            </a:r>
            <a:r>
              <a:rPr lang="pt-PT" sz="1600" dirty="0" err="1">
                <a:latin typeface="Microsoft YaHei Light"/>
              </a:rPr>
              <a:t>sklearn</a:t>
            </a:r>
            <a:r>
              <a:rPr lang="pt-PT" sz="1600" dirty="0">
                <a:latin typeface="Microsoft YaHei Light"/>
              </a:rPr>
              <a:t>).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Camada 2: Rede Neural MLP (</a:t>
            </a:r>
            <a:r>
              <a:rPr lang="pt-PT" sz="1600" dirty="0" err="1">
                <a:latin typeface="Microsoft YaHei Light"/>
              </a:rPr>
              <a:t>PyTorch</a:t>
            </a:r>
            <a:r>
              <a:rPr lang="pt-PT" sz="1600" dirty="0">
                <a:latin typeface="Microsoft YaHei Light"/>
              </a:rPr>
              <a:t>) — reavalia e ajusta as recomendações.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Treino/Teste: 70/30, métricas F1 e acurácia média de 0.86. </a:t>
            </a:r>
            <a:endParaRPr lang="en-US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034273"/>
            <a:ext cx="6659425" cy="83856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04801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Seleção e Treinamento /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Teste de Modelos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01955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 err="1">
                <a:solidFill>
                  <a:schemeClr val="bg1"/>
                </a:solidFill>
                <a:latin typeface="Microsoft YaHei"/>
              </a:rPr>
              <a:t>Resultado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7953004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lnSpcReduction="10000"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Sistema funcional de recomendação baseado em IA.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 Interface web responsiva (HTML/CSS/JS).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 “Segunda opinião” inteligente com </a:t>
            </a:r>
            <a:r>
              <a:rPr lang="pt-PT" sz="1600" dirty="0" err="1">
                <a:latin typeface="Microsoft YaHei Light"/>
              </a:rPr>
              <a:t>PyTorch</a:t>
            </a:r>
            <a:r>
              <a:rPr lang="pt-PT" sz="1600" dirty="0">
                <a:latin typeface="Microsoft YaHei Light"/>
              </a:rPr>
              <a:t>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 Visualização dinâmica das recomendações.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600" dirty="0">
              <a:latin typeface="Microsoft YaHei Light"/>
            </a:endParaRP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sym typeface="Merriweather Sans Light"/>
              </a:rPr>
              <a:t>Nosso modelo apresenta uma precisão de aproximadamente 99%, com erros médios muito baixos (MAE de 0.0046 e RMSE de 0.0111). Isso significa que ele consegue prever os valores com altíssima fidelidade. O coeficiente de determinação (R² = 0.9908) mostra que quase toda a variação dos dados reais é capturada pelas previsões. Visualmente, isso é confirmado pelo gráfico, onde os pontos estão bem alinhados com a linha ideal (y = x).</a:t>
            </a:r>
            <a:endParaRPr lang="pt" sz="1800" dirty="0">
              <a:latin typeface="Microsoft YaHei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754657" y="1270173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766631" y="120483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Resultados 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719052B5-4B5E-9D86-59DC-F2C96194AB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4366" y="1031682"/>
            <a:ext cx="4641918" cy="344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3992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Implantação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9921533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Aplicação </a:t>
            </a:r>
            <a:r>
              <a:rPr lang="pt-PT" sz="1600" dirty="0" err="1">
                <a:latin typeface="Microsoft YaHei Light"/>
              </a:rPr>
              <a:t>Flask</a:t>
            </a:r>
            <a:r>
              <a:rPr lang="pt-PT" sz="1600" dirty="0">
                <a:latin typeface="Microsoft YaHei Light"/>
              </a:rPr>
              <a:t> rodando localmente (Windows 11).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err="1">
                <a:latin typeface="Microsoft YaHei Light"/>
              </a:rPr>
              <a:t>Frontend</a:t>
            </a:r>
            <a:r>
              <a:rPr lang="pt-PT" sz="1600" dirty="0">
                <a:latin typeface="Microsoft YaHei Light"/>
              </a:rPr>
              <a:t> comunica via AJAX.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Modelo </a:t>
            </a:r>
            <a:r>
              <a:rPr lang="pt-PT" sz="1600" dirty="0" err="1">
                <a:latin typeface="Microsoft YaHei Light"/>
              </a:rPr>
              <a:t>PyTorch</a:t>
            </a:r>
            <a:r>
              <a:rPr lang="pt-PT" sz="1600" dirty="0">
                <a:latin typeface="Microsoft YaHei Light"/>
              </a:rPr>
              <a:t> integrado via rota `/</a:t>
            </a:r>
            <a:r>
              <a:rPr lang="pt-PT" sz="1600" dirty="0" err="1">
                <a:latin typeface="Microsoft YaHei Light"/>
              </a:rPr>
              <a:t>segunda_opiniao</a:t>
            </a:r>
            <a:r>
              <a:rPr lang="pt-PT" sz="1600" dirty="0">
                <a:latin typeface="Microsoft YaHei Light"/>
              </a:rPr>
              <a:t>`.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Pode ser hospedado no </a:t>
            </a:r>
            <a:r>
              <a:rPr lang="pt-PT" sz="1600" dirty="0" err="1">
                <a:latin typeface="Microsoft YaHei Light"/>
              </a:rPr>
              <a:t>Streamlit</a:t>
            </a:r>
            <a:r>
              <a:rPr lang="pt-PT" sz="1600" dirty="0">
                <a:latin typeface="Microsoft YaHei Light"/>
              </a:rPr>
              <a:t> </a:t>
            </a:r>
            <a:r>
              <a:rPr lang="pt-PT" sz="1600" dirty="0" err="1">
                <a:latin typeface="Microsoft YaHei Light"/>
              </a:rPr>
              <a:t>Cloud</a:t>
            </a:r>
            <a:r>
              <a:rPr lang="pt-PT" sz="1600" dirty="0">
                <a:latin typeface="Microsoft YaHei Light"/>
              </a:rPr>
              <a:t>, Render ou </a:t>
            </a:r>
            <a:r>
              <a:rPr lang="pt-PT" sz="1600" dirty="0" err="1">
                <a:latin typeface="Microsoft YaHei Light"/>
              </a:rPr>
              <a:t>Railway.app</a:t>
            </a:r>
            <a:r>
              <a:rPr lang="pt-PT" sz="1600" dirty="0">
                <a:latin typeface="Microsoft YaHei Light"/>
              </a:rPr>
              <a:t>.</a:t>
            </a: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Implantação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82688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 projeto </a:t>
            </a:r>
            <a:r>
              <a:rPr lang="pt-PT" sz="1600" b="1" dirty="0" err="1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Nzola</a:t>
            </a:r>
            <a:r>
              <a:rPr lang="pt-PT" sz="16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representa uma integração entre tecnologia, sustentabilidade e ciência de dados, promovendo o turismo responsável e o uso ético da IA para o desenvolvimento sustentável de comunidades.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Próximos passos: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Implantar em nuvem pública.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Coletar dados em tempo real de </a:t>
            </a:r>
            <a:r>
              <a:rPr lang="pt-PT" sz="1600" dirty="0" err="1">
                <a:latin typeface="Microsoft YaHei Light"/>
              </a:rPr>
              <a:t>APIs</a:t>
            </a:r>
            <a:r>
              <a:rPr lang="pt-PT" sz="1600" dirty="0">
                <a:latin typeface="Microsoft YaHei Light"/>
              </a:rPr>
              <a:t> de turismo.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Adicionar personalização por histórico de usuário. 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- Expandir para mais países.</a:t>
            </a:r>
            <a:endParaRPr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6382979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Conclusão</a:t>
            </a: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e</a:t>
            </a: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Trabalho futuro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713953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"/>
          <p:cNvSpPr/>
          <p:nvPr/>
        </p:nvSpPr>
        <p:spPr>
          <a:xfrm>
            <a:off x="698305" y="1089450"/>
            <a:ext cx="6382979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023853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Referências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tângulo 2"/>
          <p:cNvSpPr/>
          <p:nvPr/>
        </p:nvSpPr>
        <p:spPr>
          <a:xfrm>
            <a:off x="640855" y="1706220"/>
            <a:ext cx="1136509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bg1">
                    <a:lumMod val="50000"/>
                  </a:schemeClr>
                </a:solidFill>
              </a:rPr>
              <a:t>ArXiv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. (2025).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Multistakeholder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fairness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tourism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recommender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  <a:hlinkClick r:id="rId12"/>
              </a:rPr>
              <a:t>https://arxiv.org/abs/2508.20496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bg1">
                    <a:lumMod val="50000"/>
                  </a:schemeClr>
                </a:solidFill>
              </a:rPr>
              <a:t>EconPapers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. (2021). 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Contextual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recommender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in e-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tourism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: A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review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 https://econpapers.repec.org/article/gamjsusta/v_3a13_3ay_3a2021_3ai_3a15_3ap_3a8141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EUDL. (2020).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Systematic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review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on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sustainable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destination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management.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  <a:hlinkClick r:id="rId13"/>
              </a:rPr>
              <a:t>https://eudl.eu/doi/10.4108/eai.14-9-2020.2304433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bg1">
                    <a:lumMod val="50000"/>
                  </a:schemeClr>
                </a:solidFill>
              </a:rPr>
              <a:t>Journal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dirty="0" err="1">
                <a:solidFill>
                  <a:schemeClr val="bg1">
                    <a:lumMod val="50000"/>
                  </a:schemeClr>
                </a:solidFill>
              </a:rPr>
              <a:t>Ummat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. (2023). 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Green business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models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in rural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tourism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  <a:hlinkClick r:id="rId14"/>
              </a:rPr>
              <a:t>https://journal.ummat.ac.id/index.php/justek/article/view/29453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MDPI. (2023).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Context-aware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tourism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recommender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systems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: A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systematic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review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  <a:hlinkClick r:id="rId15"/>
              </a:rPr>
              <a:t>https://www.mdpi.com/0718-1876/20/3/194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MDPI. (2024).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OurSCARA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Awareness-based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recommendation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services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for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sustainable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tourism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  <a:hlinkClick r:id="rId16"/>
              </a:rPr>
              <a:t>https://www.mdpi.com/2673-4060/5/2/24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bg1">
                    <a:lumMod val="50000"/>
                  </a:schemeClr>
                </a:solidFill>
              </a:rPr>
              <a:t>Müller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, T., </a:t>
            </a:r>
            <a:r>
              <a:rPr lang="pt-PT" dirty="0" err="1">
                <a:solidFill>
                  <a:schemeClr val="bg1">
                    <a:lumMod val="50000"/>
                  </a:schemeClr>
                </a:solidFill>
              </a:rPr>
              <a:t>Krause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, J., &amp; Hoffmann, L. (2025).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Representing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expert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knowledge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for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route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similarities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sustainable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tourism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using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machine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 Springer.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Springer. (2021).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Deep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learning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IoT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for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tourist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attraction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recommendations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smart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cities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  <a:hlinkClick r:id="rId17"/>
              </a:rPr>
              <a:t>https://link.springer.com/article/10.1007/s00521-021-06872-0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bg1">
                    <a:lumMod val="50000"/>
                  </a:schemeClr>
                </a:solidFill>
              </a:rPr>
              <a:t>Zhao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, Y., Li, W., &amp; </a:t>
            </a:r>
            <a:r>
              <a:rPr lang="pt-PT" dirty="0" err="1">
                <a:solidFill>
                  <a:schemeClr val="bg1">
                    <a:lumMod val="50000"/>
                  </a:schemeClr>
                </a:solidFill>
              </a:rPr>
              <a:t>Xu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, P. (2021). 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A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smart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tourism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recommendation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algorithm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based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on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cellular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geospatial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clustering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ISPRS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International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Journal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PT" i="1" dirty="0" err="1">
                <a:solidFill>
                  <a:schemeClr val="bg1">
                    <a:lumMod val="50000"/>
                  </a:schemeClr>
                </a:solidFill>
              </a:rPr>
              <a:t>Geo-Information</a:t>
            </a:r>
            <a:r>
              <a:rPr lang="pt-PT" i="1" dirty="0">
                <a:solidFill>
                  <a:schemeClr val="bg1">
                    <a:lumMod val="50000"/>
                  </a:schemeClr>
                </a:solidFill>
              </a:rPr>
              <a:t>, 10</a:t>
            </a:r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(9), 628. https://doi.org/10.3390/ijgi10090628</a:t>
            </a:r>
          </a:p>
        </p:txBody>
      </p:sp>
    </p:spTree>
    <p:extLst>
      <p:ext uri="{BB962C8B-B14F-4D97-AF65-F5344CB8AC3E}">
        <p14:creationId xmlns:p14="http://schemas.microsoft.com/office/powerpoint/2010/main" val="257066286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65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704" y="2355271"/>
            <a:ext cx="2919045" cy="2837091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Thank you!"/>
          <p:cNvSpPr txBox="1">
            <a:spLocks noGrp="1"/>
          </p:cNvSpPr>
          <p:nvPr>
            <p:ph type="ctrTitle" idx="4294967295"/>
          </p:nvPr>
        </p:nvSpPr>
        <p:spPr>
          <a:xfrm>
            <a:off x="3476848" y="3264195"/>
            <a:ext cx="5279148" cy="239616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>
              <a:lnSpc>
                <a:spcPct val="60000"/>
              </a:lnSpc>
              <a:defRPr sz="8000">
                <a:solidFill>
                  <a:srgbClr val="FFFFFF"/>
                </a:solidFill>
                <a:latin typeface="Merriweather Sans Regular ExtraBold"/>
                <a:ea typeface="Merriweather Sans Regular ExtraBold"/>
                <a:cs typeface="Merriweather Sans Regular ExtraBold"/>
                <a:sym typeface="Merriweather Sans Regular ExtraBold"/>
              </a:defRPr>
            </a:lvl1pPr>
          </a:lstStyle>
          <a:p>
            <a:pPr>
              <a:lnSpc>
                <a:spcPct val="100000"/>
              </a:lnSpc>
            </a:pPr>
            <a:r>
              <a:rPr sz="7200" b="1" dirty="0" err="1">
                <a:latin typeface="Microsoft YaHei"/>
              </a:rPr>
              <a:t>Obrigado</a:t>
            </a:r>
            <a:r>
              <a:rPr sz="7200" b="1" dirty="0">
                <a:latin typeface="Microsoft YaHei"/>
              </a:rPr>
              <a:t>!</a:t>
            </a:r>
            <a:endParaRPr lang="en-US" sz="7200" b="1" dirty="0">
              <a:latin typeface="Microsoft YaHei"/>
            </a:endParaRPr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3668" y="647699"/>
            <a:ext cx="5015131" cy="7024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7" ma:contentTypeDescription="Create a new document." ma:contentTypeScope="" ma:versionID="c98d0228abce7754384ebe83b64f5abe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6e2117bc6268b3a71bdab3243b1b5906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Tim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Time" ma:index="23" nillable="true" ma:displayName="Time" ma:format="DateOnly" ma:indexed="true" ma:internalName="Tim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  <Time xmlns="6259e846-8b77-4076-b7b3-191dee427045" xsi:nil="true"/>
  </documentManagement>
</p:properties>
</file>

<file path=customXml/itemProps1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9C168A-BF07-44C9-8193-C4E90CE7716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6259e846-8b77-4076-b7b3-191dee427045"/>
    <ds:schemaRef ds:uri="97847797-b717-4ffb-b5fd-2a237f853cd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2449C5-8A7C-4DDF-8BBD-9834F5F8D2B3}">
  <ds:schemaRefs>
    <ds:schemaRef ds:uri="http://purl.org/dc/elements/1.1/"/>
    <ds:schemaRef ds:uri="http://purl.org/dc/dcmitype/"/>
    <ds:schemaRef ds:uri="http://www.w3.org/XML/1998/namespace"/>
    <ds:schemaRef ds:uri="6259e846-8b77-4076-b7b3-191dee427045"/>
    <ds:schemaRef ds:uri="http://schemas.microsoft.com/office/2006/documentManagement/types"/>
    <ds:schemaRef ds:uri="http://purl.org/dc/terms/"/>
    <ds:schemaRef ds:uri="97847797-b717-4ffb-b5fd-2a237f853cda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1872</Words>
  <Application>Microsoft Office PowerPoint</Application>
  <PresentationFormat>Widescreen</PresentationFormat>
  <Paragraphs>143</Paragraphs>
  <Slides>25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Microsoft YaHei</vt:lpstr>
      <vt:lpstr>Microsoft YaHei Light</vt:lpstr>
      <vt:lpstr>Arial</vt:lpstr>
      <vt:lpstr>Calibri</vt:lpstr>
      <vt:lpstr>Calibri Light</vt:lpstr>
      <vt:lpstr>Helvetica Neue Thin</vt:lpstr>
      <vt:lpstr>Merriweather Sans Light</vt:lpstr>
      <vt:lpstr>frontiertech</vt:lpstr>
      <vt:lpstr>Apresentação do PowerPoint</vt:lpstr>
      <vt:lpstr>Apresentação do PowerPoint</vt:lpstr>
      <vt:lpstr>Participantes</vt:lpstr>
      <vt:lpstr>geral</vt:lpstr>
      <vt:lpstr>Background</vt:lpstr>
      <vt:lpstr>Objetivos</vt:lpstr>
      <vt:lpstr>Revisão da Literatura</vt:lpstr>
      <vt:lpstr>Revisão da Literatura</vt:lpstr>
      <vt:lpstr>Revisão da Literatura</vt:lpstr>
      <vt:lpstr>Revisão da Literatura</vt:lpstr>
      <vt:lpstr>Revisão da Literatura</vt:lpstr>
      <vt:lpstr>Revisão da Literatura</vt:lpstr>
      <vt:lpstr>Revisão da Literatura</vt:lpstr>
      <vt:lpstr>Relação com ODS</vt:lpstr>
      <vt:lpstr>Apresentação do PowerPoint</vt:lpstr>
      <vt:lpstr>Dados</vt:lpstr>
      <vt:lpstr>Apresentação do PowerPoint</vt:lpstr>
      <vt:lpstr>Seleção e Treinamento / Teste de Modelos</vt:lpstr>
      <vt:lpstr>Apresentação do PowerPoint</vt:lpstr>
      <vt:lpstr>Resultados </vt:lpstr>
      <vt:lpstr>Apresentação do PowerPoint</vt:lpstr>
      <vt:lpstr>Implantação</vt:lpstr>
      <vt:lpstr>Conclusão e Trabalho futuro</vt:lpstr>
      <vt:lpstr>Referências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ORDEM AFONSO</dc:creator>
  <cp:lastModifiedBy>Jorge Inácio</cp:lastModifiedBy>
  <cp:revision>28</cp:revision>
  <dcterms:modified xsi:type="dcterms:W3CDTF">2025-11-13T13:11:03Z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