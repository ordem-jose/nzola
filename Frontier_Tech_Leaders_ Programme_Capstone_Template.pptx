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56" r:id="rId5"/>
    <p:sldId id="278" r:id="rId6"/>
    <p:sldId id="258" r:id="rId7"/>
    <p:sldId id="269" r:id="rId8"/>
    <p:sldId id="270" r:id="rId9"/>
    <p:sldId id="271" r:id="rId10"/>
    <p:sldId id="281" r:id="rId11"/>
    <p:sldId id="272" r:id="rId12"/>
    <p:sldId id="282" r:id="rId13"/>
    <p:sldId id="274" r:id="rId14"/>
    <p:sldId id="286" r:id="rId15"/>
    <p:sldId id="283" r:id="rId16"/>
    <p:sldId id="287" r:id="rId17"/>
    <p:sldId id="284" r:id="rId18"/>
    <p:sldId id="27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7" d="100"/>
          <a:sy n="67" d="100"/>
        </p:scale>
        <p:origin x="15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Cacombe" userId="461dc0e7-15b8-4d12-8c65-6706fd669b56" providerId="ADAL" clId="{AAF0F511-5D6C-CC4E-AC45-B01B16C18ED7}"/>
    <pc:docChg chg="undo custSel modSld">
      <pc:chgData name="Cristovao Cacombe" userId="461dc0e7-15b8-4d12-8c65-6706fd669b56" providerId="ADAL" clId="{AAF0F511-5D6C-CC4E-AC45-B01B16C18ED7}" dt="2025-06-20T06:57:38.407" v="53" actId="22"/>
      <pc:docMkLst>
        <pc:docMk/>
      </pc:docMkLst>
      <pc:sldChg chg="modSp">
        <pc:chgData name="Cristovao Cacombe" userId="461dc0e7-15b8-4d12-8c65-6706fd669b56" providerId="ADAL" clId="{AAF0F511-5D6C-CC4E-AC45-B01B16C18ED7}" dt="2025-06-20T06:55:59.127" v="18" actId="1076"/>
        <pc:sldMkLst>
          <pc:docMk/>
          <pc:sldMk cId="0" sldId="256"/>
        </pc:sldMkLst>
        <pc:spChg chg="mod">
          <ac:chgData name="Cristovao Cacombe" userId="461dc0e7-15b8-4d12-8c65-6706fd669b56" providerId="ADAL" clId="{AAF0F511-5D6C-CC4E-AC45-B01B16C18ED7}" dt="2025-06-20T06:55:53.092" v="17" actId="1076"/>
          <ac:spMkLst>
            <pc:docMk/>
            <pc:sldMk cId="0" sldId="256"/>
            <ac:spMk id="4" creationId="{119D6634-8C52-56C8-C196-BBFF1A999BF3}"/>
          </ac:spMkLst>
        </pc:spChg>
        <pc:spChg chg="mod">
          <ac:chgData name="Cristovao Cacombe" userId="461dc0e7-15b8-4d12-8c65-6706fd669b56" providerId="ADAL" clId="{AAF0F511-5D6C-CC4E-AC45-B01B16C18ED7}" dt="2025-06-20T06:55:59.127" v="18" actId="1076"/>
          <ac:spMkLst>
            <pc:docMk/>
            <pc:sldMk cId="0" sldId="256"/>
            <ac:spMk id="476" creationId="{00000000-0000-0000-0000-000000000000}"/>
          </ac:spMkLst>
        </pc:spChg>
      </pc:sldChg>
      <pc:sldChg chg="addSp delSp modSp">
        <pc:chgData name="Cristovao Cacombe" userId="461dc0e7-15b8-4d12-8c65-6706fd669b56" providerId="ADAL" clId="{AAF0F511-5D6C-CC4E-AC45-B01B16C18ED7}" dt="2025-06-20T06:57:38.407" v="53" actId="22"/>
        <pc:sldMkLst>
          <pc:docMk/>
          <pc:sldMk cId="0" sldId="258"/>
        </pc:sldMkLst>
        <pc:spChg chg="add del">
          <ac:chgData name="Cristovao Cacombe" userId="461dc0e7-15b8-4d12-8c65-6706fd669b56" providerId="ADAL" clId="{AAF0F511-5D6C-CC4E-AC45-B01B16C18ED7}" dt="2025-06-20T06:57:38.407" v="53" actId="22"/>
          <ac:spMkLst>
            <pc:docMk/>
            <pc:sldMk cId="0" sldId="258"/>
            <ac:spMk id="4" creationId="{1179131E-F870-459B-822B-3BDC169F86B8}"/>
          </ac:spMkLst>
        </pc:spChg>
        <pc:spChg chg="mod">
          <ac:chgData name="Cristovao Cacombe" userId="461dc0e7-15b8-4d12-8c65-6706fd669b56" providerId="ADAL" clId="{AAF0F511-5D6C-CC4E-AC45-B01B16C18ED7}" dt="2025-06-20T06:57:20.210" v="51" actId="22"/>
          <ac:spMkLst>
            <pc:docMk/>
            <pc:sldMk cId="0" sldId="258"/>
            <ac:spMk id="490" creationId="{00000000-0000-0000-0000-000000000000}"/>
          </ac:spMkLst>
        </pc:spChg>
      </pc:sldChg>
      <pc:sldChg chg="modSp">
        <pc:chgData name="Cristovao Cacombe" userId="461dc0e7-15b8-4d12-8c65-6706fd669b56" providerId="ADAL" clId="{AAF0F511-5D6C-CC4E-AC45-B01B16C18ED7}" dt="2025-06-20T06:56:10.609" v="48" actId="20577"/>
        <pc:sldMkLst>
          <pc:docMk/>
          <pc:sldMk cId="1968293515" sldId="278"/>
        </pc:sldMkLst>
        <pc:spChg chg="mod">
          <ac:chgData name="Cristovao Cacombe" userId="461dc0e7-15b8-4d12-8c65-6706fd669b56" providerId="ADAL" clId="{AAF0F511-5D6C-CC4E-AC45-B01B16C18ED7}" dt="2025-06-20T06:56:10.609" v="48" actId="20577"/>
          <ac:spMkLst>
            <pc:docMk/>
            <pc:sldMk cId="1968293515" sldId="278"/>
            <ac:spMk id="476" creationId="{00000000-0000-0000-0000-000000000000}"/>
          </ac:spMkLst>
        </pc:spChg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-134217728 0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24576 4608 8642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24576 4608 8642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373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46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25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560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502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6615715" y="456434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5586902" y="3372195"/>
            <a:ext cx="4763321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Uma nova </a:t>
            </a:r>
            <a:r>
              <a:rPr lang="pt" b="1" dirty="0" err="1">
                <a:latin typeface="Microsoft YaHei"/>
              </a:rPr>
              <a:t>geração</a:t>
            </a:r>
            <a:r>
              <a:rPr lang="pt" b="1" dirty="0">
                <a:latin typeface="Microsoft YaHei"/>
              </a:rPr>
              <a:t> </a:t>
            </a: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de </a:t>
            </a:r>
            <a:r>
              <a:rPr lang="pt" b="1" dirty="0" err="1">
                <a:latin typeface="Microsoft YaHei"/>
              </a:rPr>
              <a:t>especialistas </a:t>
            </a:r>
            <a:r>
              <a:rPr lang="pt" b="1" dirty="0">
                <a:latin typeface="Microsoft YaHei"/>
              </a:rPr>
              <a:t>em </a:t>
            </a:r>
            <a:r>
              <a:rPr lang="pt" b="1" dirty="0" err="1">
                <a:latin typeface="Microsoft YaHei"/>
              </a:rPr>
              <a:t>tecnologia</a:t>
            </a:r>
            <a:endParaRPr b="1" dirty="0">
              <a:latin typeface="Microsoft YaHe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8747202" y="3672363"/>
            <a:ext cx="146610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PT" b="1" dirty="0" err="1" smtClean="0">
                <a:solidFill>
                  <a:schemeClr val="bg1"/>
                </a:solidFill>
                <a:latin typeface="Microsoft YaHei"/>
              </a:rPr>
              <a:t>Nzola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fontScale="62500" lnSpcReduction="20000"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Nota conceitual e plano de implementação :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Contexto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Objetivos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Relação ODS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Coleta de 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Análise Exploratória de Dados (EDA) e Engenharia de Recursos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Seleção e Treinamento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Avaliação de Modelos e Ajuste 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Refinamento e Teste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Resultados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Implantação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Trabalho Futuro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8015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geral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O turismo é uma força econômica global, mas sua expansão gera pressões ambientais e sociais.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O projeto </a:t>
            </a:r>
            <a:r>
              <a:rPr lang="pt-PT" sz="1600" dirty="0" err="1" smtClean="0">
                <a:latin typeface="Microsoft YaHei Light"/>
              </a:rPr>
              <a:t>Nzola</a:t>
            </a:r>
            <a:r>
              <a:rPr lang="pt-PT" sz="1600" dirty="0" smtClean="0">
                <a:latin typeface="Microsoft YaHei Light"/>
              </a:rPr>
              <a:t> </a:t>
            </a:r>
            <a:r>
              <a:rPr lang="pt-PT" sz="1600" dirty="0">
                <a:latin typeface="Microsoft YaHei Light"/>
              </a:rPr>
              <a:t>usa IA e Engenharia de Dados para oferecer </a:t>
            </a:r>
            <a:r>
              <a:rPr lang="pt-PT" sz="1600" dirty="0" smtClean="0">
                <a:latin typeface="Microsoft YaHei Light"/>
              </a:rPr>
              <a:t>recomendações sustentáveis </a:t>
            </a:r>
            <a:r>
              <a:rPr lang="pt-PT" sz="1600" dirty="0">
                <a:latin typeface="Microsoft YaHei Light"/>
              </a:rPr>
              <a:t>a viajantes, reduzindo impactos e promovendo escolhas conscientes.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 smtClean="0">
                <a:latin typeface="Microsoft YaHei Light"/>
              </a:rPr>
              <a:t>1- </a:t>
            </a:r>
            <a:r>
              <a:rPr lang="pt-PT" sz="1600" dirty="0" smtClean="0">
                <a:latin typeface="Microsoft YaHei Light"/>
              </a:rPr>
              <a:t>Criar </a:t>
            </a:r>
            <a:r>
              <a:rPr lang="pt-PT" sz="1600" dirty="0">
                <a:latin typeface="Microsoft YaHei Light"/>
              </a:rPr>
              <a:t>uma plataforma web que integre IA e </a:t>
            </a:r>
            <a:r>
              <a:rPr lang="pt-PT" sz="1600" dirty="0" err="1">
                <a:latin typeface="Microsoft YaHei Light"/>
              </a:rPr>
              <a:t>geolocalização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2- Fornecer </a:t>
            </a:r>
            <a:r>
              <a:rPr lang="pt-PT" sz="1600" dirty="0">
                <a:latin typeface="Microsoft YaHei Light"/>
              </a:rPr>
              <a:t>recomendações personalizadas com base em preferências e contexto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3- Utilizar modelos de aprendizado supervisionado (</a:t>
            </a:r>
            <a:r>
              <a:rPr lang="pt-PT" sz="1600" dirty="0" err="1">
                <a:latin typeface="Microsoft YaHei Light"/>
              </a:rPr>
              <a:t>sklearn</a:t>
            </a:r>
            <a:r>
              <a:rPr lang="pt-PT" sz="1600" dirty="0">
                <a:latin typeface="Microsoft YaHei Light"/>
              </a:rPr>
              <a:t> + 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 smtClean="0">
                <a:latin typeface="Microsoft YaHei Light"/>
              </a:rPr>
              <a:t>).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4- Apoiar o turismo sustentável e políticas públicas.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Objetivos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73247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🌱 ODS 8 — Trabalho Decente e Crescimento Econômico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🌍 ODS 11 — Cidades e Comunidades Sustentáveis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🌿 ODS 12 — Consumo e Produção Responsáveis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💧 ODS 13 — Ação Contra as Mudanças Climáticas </a:t>
            </a: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Relação com ODS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Dados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098893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Fontes: bases públicas e dados próprios sobre destinos turísticos.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Atributos: custo, tipo de ecossistema, impacto ambiental, visitantes anuais, </a:t>
            </a:r>
            <a:r>
              <a:rPr lang="pt-PT" sz="1600" dirty="0" err="1">
                <a:latin typeface="Microsoft YaHei Light"/>
              </a:rPr>
              <a:t>tags</a:t>
            </a:r>
            <a:r>
              <a:rPr lang="pt-PT" sz="1600" dirty="0">
                <a:latin typeface="Microsoft YaHei Light"/>
              </a:rPr>
              <a:t> e localização.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Processamento: limpeza, normalização, e engenharia de variáveis em pandas.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Dados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5345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Modelo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611347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Análise Exploratória e Engenharia de </a:t>
            </a:r>
            <a:r>
              <a:rPr lang="pt-PT" sz="1600" dirty="0" smtClean="0">
                <a:latin typeface="Microsoft YaHei Light"/>
              </a:rPr>
              <a:t>Recursos</a:t>
            </a:r>
            <a:r>
              <a:rPr lang="pt-PT" sz="1600" dirty="0">
                <a:latin typeface="Microsoft YaHei Light"/>
              </a:rPr>
              <a:t>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Identificação de correlações entre sustentabilidade e popularidade.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Criação de métricas compostas para impacto ecológico.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Geração de </a:t>
            </a:r>
            <a:r>
              <a:rPr lang="pt-PT" sz="1600" dirty="0" err="1">
                <a:latin typeface="Microsoft YaHei Light"/>
              </a:rPr>
              <a:t>embeddings</a:t>
            </a:r>
            <a:r>
              <a:rPr lang="pt-PT" sz="1600" dirty="0">
                <a:latin typeface="Microsoft YaHei Light"/>
              </a:rPr>
              <a:t> TF-IDF para análise semântica de </a:t>
            </a:r>
            <a:r>
              <a:rPr lang="pt-PT" sz="1600" dirty="0" err="1">
                <a:latin typeface="Microsoft YaHei Light"/>
              </a:rPr>
              <a:t>tags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Modelagem (IA/ML</a:t>
            </a:r>
            <a:r>
              <a:rPr lang="pt-PT" sz="1600" dirty="0" smtClean="0">
                <a:latin typeface="Microsoft YaHei Light"/>
              </a:rPr>
              <a:t>):</a:t>
            </a:r>
            <a:endParaRPr lang="pt-PT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Camada 1: TF-IDF </a:t>
            </a:r>
            <a:r>
              <a:rPr lang="pt-PT" sz="1600" dirty="0">
                <a:latin typeface="Microsoft YaHei Light"/>
              </a:rPr>
              <a:t>+ Similaridade de Cosseno (</a:t>
            </a:r>
            <a:r>
              <a:rPr lang="pt-PT" sz="1600" dirty="0" err="1">
                <a:latin typeface="Microsoft YaHei Light"/>
              </a:rPr>
              <a:t>sklearn</a:t>
            </a:r>
            <a:r>
              <a:rPr lang="pt-PT" sz="1600" dirty="0">
                <a:latin typeface="Microsoft YaHei Light"/>
              </a:rPr>
              <a:t>).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Camada 2: Rede </a:t>
            </a:r>
            <a:r>
              <a:rPr lang="pt-PT" sz="1600" dirty="0">
                <a:latin typeface="Microsoft YaHei Light"/>
              </a:rPr>
              <a:t>Neural MLP (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) — reavalia e ajusta as recomendações.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Treino/Teste: 70/30, métricas F1 e acurácia média de 0.86. </a:t>
            </a: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034273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04801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01955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 err="1">
                <a:solidFill>
                  <a:schemeClr val="bg1"/>
                </a:solidFill>
                <a:latin typeface="Microsoft YaHei"/>
              </a:rPr>
              <a:t>Resultado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7953004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Sistema </a:t>
            </a:r>
            <a:r>
              <a:rPr lang="pt-PT" sz="1600" dirty="0">
                <a:latin typeface="Microsoft YaHei Light"/>
              </a:rPr>
              <a:t>funcional de recomendação baseado em IA.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 </a:t>
            </a:r>
            <a:r>
              <a:rPr lang="pt-PT" sz="1600" dirty="0">
                <a:latin typeface="Microsoft YaHei Light"/>
              </a:rPr>
              <a:t>Interface web responsiva (HTML/CSS/JS).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 </a:t>
            </a:r>
            <a:r>
              <a:rPr lang="pt-PT" sz="1600" dirty="0">
                <a:latin typeface="Microsoft YaHei Light"/>
              </a:rPr>
              <a:t>“Segunda opinião” inteligente com 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 </a:t>
            </a:r>
            <a:r>
              <a:rPr lang="pt-PT" sz="1600" dirty="0">
                <a:latin typeface="Microsoft YaHei Light"/>
              </a:rPr>
              <a:t>Visualização dinâmica das recomendações.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Resultados 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49399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Implantação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992153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Aplicação </a:t>
            </a:r>
            <a:r>
              <a:rPr lang="pt-PT" sz="1600" dirty="0" err="1">
                <a:latin typeface="Microsoft YaHei Light"/>
              </a:rPr>
              <a:t>Flask</a:t>
            </a:r>
            <a:r>
              <a:rPr lang="pt-PT" sz="1600" dirty="0">
                <a:latin typeface="Microsoft YaHei Light"/>
              </a:rPr>
              <a:t> rodando localmente (Windows 11).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err="1">
                <a:latin typeface="Microsoft YaHei Light"/>
              </a:rPr>
              <a:t>Frontend</a:t>
            </a:r>
            <a:r>
              <a:rPr lang="pt-PT" sz="1600" dirty="0">
                <a:latin typeface="Microsoft YaHei Light"/>
              </a:rPr>
              <a:t> comunica via AJAX.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Modelo 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 integrado via rota `/</a:t>
            </a:r>
            <a:r>
              <a:rPr lang="pt-PT" sz="1600" dirty="0" err="1">
                <a:latin typeface="Microsoft YaHei Light"/>
              </a:rPr>
              <a:t>segunda_opiniao</a:t>
            </a:r>
            <a:r>
              <a:rPr lang="pt-PT" sz="1600" dirty="0">
                <a:latin typeface="Microsoft YaHei Light"/>
              </a:rPr>
              <a:t>`.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Pode ser hospedado no </a:t>
            </a:r>
            <a:r>
              <a:rPr lang="pt-PT" sz="1600" dirty="0" err="1" smtClean="0">
                <a:latin typeface="Microsoft YaHei Light"/>
              </a:rPr>
              <a:t>Streamlit</a:t>
            </a:r>
            <a:r>
              <a:rPr lang="pt-PT" sz="1600" dirty="0" smtClean="0">
                <a:latin typeface="Microsoft YaHei Light"/>
              </a:rPr>
              <a:t> </a:t>
            </a:r>
            <a:r>
              <a:rPr lang="pt-PT" sz="1600" dirty="0" err="1" smtClean="0">
                <a:latin typeface="Microsoft YaHei Light"/>
              </a:rPr>
              <a:t>Cloud</a:t>
            </a:r>
            <a:r>
              <a:rPr lang="pt-PT" sz="1600" dirty="0" smtClean="0">
                <a:latin typeface="Microsoft YaHei Light"/>
              </a:rPr>
              <a:t>, Render </a:t>
            </a:r>
            <a:r>
              <a:rPr lang="pt-PT" sz="1600" dirty="0">
                <a:latin typeface="Microsoft YaHei Light"/>
              </a:rPr>
              <a:t>ou </a:t>
            </a:r>
            <a:r>
              <a:rPr lang="pt-PT" sz="1600" dirty="0" err="1" smtClean="0">
                <a:latin typeface="Microsoft YaHei Light"/>
              </a:rPr>
              <a:t>Railway.app</a:t>
            </a:r>
            <a:r>
              <a:rPr lang="pt-PT" sz="1600" dirty="0" smtClean="0">
                <a:latin typeface="Microsoft YaHei Light"/>
              </a:rPr>
              <a:t>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Implantação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8268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/>
              <a:t>O projeto </a:t>
            </a:r>
            <a:r>
              <a:rPr lang="pt-PT" sz="1600" dirty="0" err="1"/>
              <a:t>Nzola</a:t>
            </a:r>
            <a:r>
              <a:rPr lang="pt-PT" sz="1600" dirty="0"/>
              <a:t> representa uma integração entre tecnologia, sustentabilidade e ciência de dados, promovendo o turismo responsável e o uso ético da IA para o desenvolvimento sustentável de comunidades</a:t>
            </a:r>
            <a:r>
              <a:rPr lang="pt-PT" sz="1600" dirty="0" smtClean="0"/>
              <a:t>.</a:t>
            </a:r>
            <a:endParaRPr lang="pt-PT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Próximos passos: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Implantar em nuvem pública.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Coletar dados em tempo real de </a:t>
            </a:r>
            <a:r>
              <a:rPr lang="pt-PT" sz="1600" dirty="0" err="1">
                <a:latin typeface="Microsoft YaHei Light"/>
              </a:rPr>
              <a:t>APIs</a:t>
            </a:r>
            <a:r>
              <a:rPr lang="pt-PT" sz="1600" dirty="0">
                <a:latin typeface="Microsoft YaHei Light"/>
              </a:rPr>
              <a:t> de turismo.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Adicionar personalização por histórico de usuário.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Expandir para mais países.</a:t>
            </a: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6382979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Conclusão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Trabalho futuro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3476848" y="3264195"/>
            <a:ext cx="5279148" cy="239616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sz="7200" b="1" dirty="0" err="1">
                <a:latin typeface="Microsoft YaHei"/>
              </a:rPr>
              <a:t>Obrigado</a:t>
            </a:r>
            <a:r>
              <a:rPr sz="7200" b="1" dirty="0">
                <a:latin typeface="Microsoft YaHei"/>
              </a:rPr>
              <a:t>!</a:t>
            </a:r>
            <a:endParaRPr lang="en-US" sz="7200" b="1" dirty="0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9C168A-BF07-44C9-8193-C4E90CE7716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259e846-8b77-4076-b7b3-191dee427045"/>
    <ds:schemaRef ds:uri="97847797-b717-4ffb-b5fd-2a237f853cd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http://purl.org/dc/elements/1.1/"/>
    <ds:schemaRef ds:uri="http://purl.org/dc/dcmitype/"/>
    <ds:schemaRef ds:uri="http://www.w3.org/XML/1998/namespace"/>
    <ds:schemaRef ds:uri="6259e846-8b77-4076-b7b3-191dee427045"/>
    <ds:schemaRef ds:uri="http://schemas.microsoft.com/office/2006/documentManagement/types"/>
    <ds:schemaRef ds:uri="http://purl.org/dc/terms/"/>
    <ds:schemaRef ds:uri="97847797-b717-4ffb-b5fd-2a237f853cda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448</Words>
  <Application>Microsoft Office PowerPoint</Application>
  <PresentationFormat>Widescreen</PresentationFormat>
  <Paragraphs>66</Paragraphs>
  <Slides>16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Merriweather Sans Light</vt:lpstr>
      <vt:lpstr>Merriweather Sans Regular</vt:lpstr>
      <vt:lpstr>Merriweather Sans Regular ExtraBold</vt:lpstr>
      <vt:lpstr>Myriad Pro Semibold</vt:lpstr>
      <vt:lpstr>frontiertech</vt:lpstr>
      <vt:lpstr>Apresentação do PowerPoint</vt:lpstr>
      <vt:lpstr>Apresentação do PowerPoint</vt:lpstr>
      <vt:lpstr>geral</vt:lpstr>
      <vt:lpstr>Background</vt:lpstr>
      <vt:lpstr>Objetivos</vt:lpstr>
      <vt:lpstr>Relação com ODS</vt:lpstr>
      <vt:lpstr>Apresentação do PowerPoint</vt:lpstr>
      <vt:lpstr>Dados</vt:lpstr>
      <vt:lpstr>Apresentação do PowerPoint</vt:lpstr>
      <vt:lpstr>Seleção e Treinamento / Teste de Modelos</vt:lpstr>
      <vt:lpstr>Apresentação do PowerPoint</vt:lpstr>
      <vt:lpstr>Resultados </vt:lpstr>
      <vt:lpstr>Apresentação do PowerPoint</vt:lpstr>
      <vt:lpstr>Implantação</vt:lpstr>
      <vt:lpstr>Conclusão e Trabalho futuro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ORDEM AFONSO</dc:creator>
  <cp:lastModifiedBy>ORDEM AFONSO</cp:lastModifiedBy>
  <cp:revision>22</cp:revision>
  <dcterms:modified xsi:type="dcterms:W3CDTF">2025-11-12T22:35:58Z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